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mmanuel)" id="{5bfea61e-1c7c-1d4c-3642-ac10448aa137}">
          <p14:sldIdLst>
            <p14:sldId id="256"/>
            <p14:sldId id="257"/>
            <p14:sldId id="258"/>
          </p14:sldIdLst>
        </p14:section>
        <p14:section name="Data and Model 1 (Mevin)" id="{fd039dc9-e4cf-8711-f2e7-937bb24739c6}">
          <p14:sldIdLst>
            <p14:sldId id="259"/>
            <p14:sldId id="260"/>
          </p14:sldIdLst>
        </p14:section>
        <p14:section name="Model 2 (Jeffrey)" id="{dcc2f264-f666-30af-2a00-adea8fbd525a}">
          <p14:sldIdLst>
            <p14:sldId id="261"/>
            <p14:sldId id="262"/>
          </p14:sldIdLst>
        </p14:section>
        <p14:section name="Results, safety and demo (Deevesh)" id="{556281f1-d556-4b6e-41e4-144fa964eef5}">
          <p14:sldIdLst>
            <p14:sldId id="263"/>
            <p14:sldId id="264"/>
            <p14:sldId id="265"/>
          </p14:sldIdLst>
        </p14:section>
        <p14:section name="Responsible AI and the ask (Immanuel)" id="{a537cf89-9150-dcfd-6fa8-309d9a8c611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B3C49"/>
                </a:solidFill>
                <a:latin typeface="+mn-lt"/>
              </a:defRPr>
            </a:pPr>
            <a:r>
              <a:rPr sz="1600" b="0" i="0" u="none" strike="noStrike">
                <a:solidFill>
                  <a:srgbClr val="0B3C49"/>
                </a:solidFill>
                <a:latin typeface="+mn-lt"/>
              </a:rPr>
              <a:t>1. Long-note option (validation macro F1)</a:t>
            </a:r>
          </a:p>
        </c:rich>
      </c:tx>
      <c:layout/>
      <c:overlay val="0"/>
    </c:title>
    <c:autoTitleDeleted val="0"/>
    <c:plotArea>
      <c:layout/>
      <c:barChart>
        <c:barDir val="bar"/>
        <c:grouping val="clustered"/>
        <c:varyColors val="0"/>
        <c:ser>
          <c:idx val="0"/>
          <c:order val="0"/>
          <c:tx>
            <c:strRef>
              <c:f>Sheet1!$B$1</c:f>
              <c:strCache>
                <c:ptCount val="1"/>
                <c:pt idx="0">
                  <c:v>Validation macro F1</c:v>
                </c:pt>
              </c:strCache>
            </c:strRef>
          </c:tx>
          <c:spPr>
            <a:solidFill>
              <a:srgbClr val="9AA5AB"/>
            </a:solidFill>
            <a:effectLst/>
          </c:spPr>
          <c:invertIfNegative val="0"/>
          <c:dLbls>
            <c:numFmt formatCode="0.000" sourceLinked="0"/>
            <c:txPr>
              <a:bodyPr/>
              <a:lstStyle/>
              <a:p>
                <a:pPr>
                  <a:defRPr b="0" i="0" strike="noStrike" sz="14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9AA5AB"/>
              </a:solidFill>
              <a:effectLst/>
            </c:spPr>
          </c:dPt>
          <c:dPt>
            <c:idx val="1"/>
            <c:invertIfNegative val="0"/>
            <c:bubble3D val="0"/>
            <c:spPr>
              <a:solidFill>
                <a:srgbClr val="1F7A8C"/>
              </a:solidFill>
              <a:effectLst/>
            </c:spPr>
          </c:dPt>
          <c:dPt>
            <c:idx val="2"/>
            <c:invertIfNegative val="0"/>
            <c:bubble3D val="0"/>
            <c:spPr>
              <a:solidFill>
                <a:srgbClr val="9AA5AB"/>
              </a:solidFill>
              <a:effectLst/>
            </c:spPr>
          </c:dPt>
          <c:cat>
            <c:multiLvlStrRef>
              <c:f>Sheet1!$A$2:$A$4</c:f>
              <c:multiLvlStrCache>
                <c:ptCount val="3"/>
                <c:lvl>
                  <c:pt idx="0">
                    <c:v>Head only</c:v>
                  </c:pt>
                  <c:pt idx="1">
                    <c:v>Head + tail</c:v>
                  </c:pt>
                  <c:pt idx="2">
                    <c:v>Chunks (all text)</c:v>
                  </c:pt>
                </c:lvl>
              </c:multiLvlStrCache>
            </c:multiLvlStrRef>
          </c:cat>
          <c:val>
            <c:numRef>
              <c:f>Sheet1!$B$2:$B$4</c:f>
              <c:numCache>
                <c:formatCode>General</c:formatCode>
                <c:ptCount val="3"/>
                <c:pt idx="0">
                  <c:v>0.919</c:v>
                </c:pt>
                <c:pt idx="1">
                  <c:v>0.94</c:v>
                </c:pt>
                <c:pt idx="2">
                  <c:v>0.92</c:v>
                </c:pt>
              </c:numCache>
            </c:numRef>
          </c:val>
        </c:ser>
        <c:dLbls>
          <c:numFmt formatCode="0.000" sourceLinked="0"/>
          <c:txPr>
            <a:bodyPr/>
            <a:lstStyle/>
            <a:p>
              <a:pPr>
                <a:defRPr b="0" i="0" strike="noStrike" sz="14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B3C49"/>
                </a:solidFill>
                <a:latin typeface="+mn-lt"/>
              </a:defRPr>
            </a:pPr>
            <a:r>
              <a:rPr sz="1600" b="0" i="0" u="none" strike="noStrike">
                <a:solidFill>
                  <a:srgbClr val="0B3C49"/>
                </a:solidFill>
                <a:latin typeface="+mn-lt"/>
              </a:rPr>
              <a:t>2. Checkpoint (validation macro F1)</a:t>
            </a:r>
          </a:p>
        </c:rich>
      </c:tx>
      <c:layout/>
      <c:overlay val="0"/>
    </c:title>
    <c:autoTitleDeleted val="0"/>
    <c:plotArea>
      <c:layout/>
      <c:barChart>
        <c:barDir val="bar"/>
        <c:grouping val="clustered"/>
        <c:varyColors val="0"/>
        <c:ser>
          <c:idx val="0"/>
          <c:order val="0"/>
          <c:tx>
            <c:strRef>
              <c:f>Sheet1!$B$1</c:f>
              <c:strCache>
                <c:ptCount val="1"/>
                <c:pt idx="0">
                  <c:v>Validation macro F1</c:v>
                </c:pt>
              </c:strCache>
            </c:strRef>
          </c:tx>
          <c:spPr>
            <a:solidFill>
              <a:srgbClr val="1F7A8C"/>
            </a:solidFill>
            <a:effectLst/>
          </c:spPr>
          <c:invertIfNegative val="0"/>
          <c:dLbls>
            <c:numFmt formatCode="0.000" sourceLinked="0"/>
            <c:txPr>
              <a:bodyPr/>
              <a:lstStyle/>
              <a:p>
                <a:pPr>
                  <a:defRPr b="0" i="0" strike="noStrike" sz="14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1F7A8C"/>
              </a:solidFill>
              <a:effectLst/>
            </c:spPr>
          </c:dPt>
          <c:dPt>
            <c:idx val="1"/>
            <c:invertIfNegative val="0"/>
            <c:bubble3D val="0"/>
            <c:spPr>
              <a:solidFill>
                <a:srgbClr val="9AA5AB"/>
              </a:solidFill>
              <a:effectLst/>
            </c:spPr>
          </c:dPt>
          <c:dPt>
            <c:idx val="2"/>
            <c:invertIfNegative val="0"/>
            <c:bubble3D val="0"/>
            <c:spPr>
              <a:solidFill>
                <a:srgbClr val="9AA5AB"/>
              </a:solidFill>
              <a:effectLst/>
            </c:spPr>
          </c:dPt>
          <c:cat>
            <c:multiLvlStrRef>
              <c:f>Sheet1!$A$2:$A$4</c:f>
              <c:multiLvlStrCache>
                <c:ptCount val="3"/>
                <c:lvl>
                  <c:pt idx="0">
                    <c:v>PubMedBERT</c:v>
                  </c:pt>
                  <c:pt idx="1">
                    <c:v>Bio_ClinicalBERT</c:v>
                  </c:pt>
                  <c:pt idx="2">
                    <c:v>BERT-base</c:v>
                  </c:pt>
                </c:lvl>
              </c:multiLvlStrCache>
            </c:multiLvlStrRef>
          </c:cat>
          <c:val>
            <c:numRef>
              <c:f>Sheet1!$B$2:$B$4</c:f>
              <c:numCache>
                <c:formatCode>General</c:formatCode>
                <c:ptCount val="3"/>
                <c:pt idx="0">
                  <c:v>0.94</c:v>
                </c:pt>
                <c:pt idx="1">
                  <c:v>0.903</c:v>
                </c:pt>
                <c:pt idx="2">
                  <c:v>0.905</c:v>
                </c:pt>
              </c:numCache>
            </c:numRef>
          </c:val>
        </c:ser>
        <c:dLbls>
          <c:numFmt formatCode="0.000" sourceLinked="0"/>
          <c:txPr>
            <a:bodyPr/>
            <a:lstStyle/>
            <a:p>
              <a:pPr>
                <a:defRPr b="0" i="0" strike="noStrike" sz="14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B3C49"/>
                </a:solidFill>
                <a:latin typeface="+mn-lt"/>
              </a:defRPr>
            </a:pPr>
            <a:r>
              <a:rPr sz="1600" b="0" i="0" u="none" strike="noStrike">
                <a:solidFill>
                  <a:srgbClr val="0B3C49"/>
                </a:solidFill>
                <a:latin typeface="+mn-lt"/>
              </a:rPr>
              <a:t>Macro F1 on 291 unseen test notes</a:t>
            </a:r>
          </a:p>
        </c:rich>
      </c:tx>
      <c:layout/>
      <c:overlay val="0"/>
    </c:title>
    <c:autoTitleDeleted val="0"/>
    <c:plotArea>
      <c:layout/>
      <c:barChart>
        <c:barDir val="col"/>
        <c:grouping val="clustered"/>
        <c:varyColors val="0"/>
        <c:ser>
          <c:idx val="0"/>
          <c:order val="0"/>
          <c:tx>
            <c:strRef>
              <c:f>Sheet1!$B$1</c:f>
              <c:strCache>
                <c:ptCount val="1"/>
                <c:pt idx="0">
                  <c:v>Test macro F1</c:v>
                </c:pt>
              </c:strCache>
            </c:strRef>
          </c:tx>
          <c:spPr>
            <a:solidFill>
              <a:srgbClr val="C8553D"/>
            </a:solidFill>
            <a:effectLst/>
          </c:spPr>
          <c:invertIfNegative val="0"/>
          <c:dLbls>
            <c:numFmt formatCode="0.000" sourceLinked="0"/>
            <c:txPr>
              <a:bodyPr/>
              <a:lstStyle/>
              <a:p>
                <a:pPr>
                  <a:defRPr b="0" i="0" strike="noStrike" sz="16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7A9E9F"/>
              </a:solidFill>
              <a:effectLst/>
            </c:spPr>
          </c:dPt>
          <c:dPt>
            <c:idx val="2"/>
            <c:invertIfNegative val="0"/>
            <c:bubble3D val="0"/>
            <c:spPr>
              <a:solidFill>
                <a:srgbClr val="1F7A8C"/>
              </a:solidFill>
              <a:effectLst/>
            </c:spPr>
          </c:dPt>
          <c:cat>
            <c:multiLvlStrRef>
              <c:f>Sheet1!$A$2:$A$4</c:f>
              <c:multiLvlStrCache>
                <c:ptCount val="3"/>
                <c:lvl>
                  <c:pt idx="0">
                    <c:v>Keyword rules</c:v>
                  </c:pt>
                  <c:pt idx="1">
                    <c:v>Model 1: TF-IDF + LR</c:v>
                  </c:pt>
                  <c:pt idx="2">
                    <c:v>Model 2: PubMedBERT</c:v>
                  </c:pt>
                </c:lvl>
              </c:multiLvlStrCache>
            </c:multiLvlStrRef>
          </c:cat>
          <c:val>
            <c:numRef>
              <c:f>Sheet1!$B$2:$B$4</c:f>
              <c:numCache>
                <c:formatCode>General</c:formatCode>
                <c:ptCount val="3"/>
                <c:pt idx="0">
                  <c:v>0.738</c:v>
                </c:pt>
                <c:pt idx="1">
                  <c:v>0.924</c:v>
                </c:pt>
                <c:pt idx="2">
                  <c:v>0.942</c:v>
                </c:pt>
              </c:numCache>
            </c:numRef>
          </c:val>
        </c:ser>
        <c:dLbls>
          <c:numFmt formatCode="0.000" sourceLinked="0"/>
          <c:txPr>
            <a:bodyPr/>
            <a:lstStyle/>
            <a:p>
              <a:pPr>
                <a:defRPr b="0" i="0" strike="noStrike" sz="1600" u="none">
                  <a:solidFill>
                    <a:srgbClr val="1B2A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IMMANUEL (15 s). Good morning. We are Team Zero. Our product is the Clinical Note Router: it reads a clinical note and suggests which of nine specialist departments should receive it, and a person always makes the final decision. I will start with the problem, Mevin with the data and our first model, Jeffrey with our deep learning model, and Deevesh with the results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IMMANUEL (50 s). Hospitals receive clinical notes and referrals all day, and each one must reach the correct specialist department. Today a person reads every note and chooses. When they get it wrong, it is two errors at once: the right department never sees the note, so the patient waits; and the wrong department gets a note it cannot act on, so a clinician has to notice and send it back. We do not have hospital cost data, so we do not invent a money figure; we measure the error rates that drive the cost. Our system only suggests a department. It is not diagnosis and not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IMMANUEL (40 s). Why not just rules? We tested that. We wrote a list of 102 department words from anatomy and procedures, did not tune it, and counted matches. It is right on only 75% of the test notes. Here is a real one: a brain angiogram for a 13-year-old boy. The word artery appears 20 times, so the rules send it to cardiology. Our model reads artery next to cerebral and aneurysm and sends it to neurology. Words belong to several departments; only the context decides, and context is what a learned model gives us. Mevin will now show you the data we learned it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MEVIN (55 s). The dataset is MTSamples from Kaggle, public sample transcriptions under a CC0 licence. Our audit changed the project more than any model choice. The 4,999 rows are only 2,357 different notes, because the website lists one note on several pages. A random split of the rows would put the same note in training and in test. So we grouped by text first, gave each note one department with a fixed rule, removed notes that really belong to two departments, and kept departments with at least 75 notes. That leaves 1,453 notes in nine departments, split once, 60/20/20, so the smallest department has 15 test notes. We also found that the keywords column gives away the answer, so our models read only the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MEVIN (45 s). Our first model is the traditional half. We repair the scrape's formatting, keep lower-case words, remove stop words, weight them with TF-IDF, and train a logistic regression. We chose every setting on the validation split. Two ideas we expected to help did not: negation markers and word pairs. Negated words in these notes are general, like no acute distress, so they do not point to a department. This simple model already scores 0.924 macro F1, trains in under a second and routes a note in half a millisecond. It learned the anatomy of each department. Jeffrey will show what the deep model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JEFFREY (55 s). Our deep learning half is PubMedBERT, a BERT model pretrained on biomedical articles with its own medical vocabulary. We fine-tune it with one extra layer for our nine departments. The challenge is length: over half the notes are longer than the 510 tokens it can read. We keep the first 128 tokens, where the reason for the visit is, and the last 382, where the plan and follow-up department are, and skip the middle. Training is AdamW, batch 8, six epochs, keeping the best epoch on validation. This is a hybrid: Model 2 reads context, Model 1 counts words, and because they fail on different notes, we use their agreement as a safety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JEFFREY (55 s). We made three choices, all on the validation split, never on the test notes. First, how to handle long notes: head plus tail beat reading only the start, and it beat reading everything in chunks, which gives equal weight to long procedure descriptions. Second, the checkpoint: PubMedBERT beat a clinical BERT and a general BERT by about four points. The reason is its vocabulary: it keeps medical words whole, so it loses less text to the limit. Third, five seeds: the spread is 0.008, so we are honest that head plus tail's lead over head is probable, not proven. Deevesh will now show how it performs on notes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DEEVESH (45 s). This is the first time we used the 291 test notes. Both learned models beat the rules by about 19 points. PubMedBERT scores 0.942, the TF-IDF model 0.924. We are honest about the gap: it is 1.8 points, the interval includes zero, and McNemar's test gives p = 0.36. 291 notes cannot prove a gap this size, although all five seeds beat Model 1. The weakest department for both is General Medicine, because its notes look like the history notes of every other department. Accuracy alone, though, hides our biggest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DEEVESH (50 s). A real hospital has more than nine departments. We kept 461 notes from 24 departments the models never saw. PubMedBERT alone is confident on more than half of them, with a mean confidence of 0.89, and every one of those goes to a wrong department. The more accurate model is the less safe one. Our fix is the two-key rule: a suggestion goes on the fast track only if both models are confident and agree. That cuts it to 11.5%. It costs us more full reviews, and we think that trade is right, because a confident wrong suggestion is the worst error. 11.5% is not zero, which is why a person checks every note.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DEEVESH (1 min 45 s). [Switch to the web tool, already open at 127.0.0.1:7860.] 1. Load a test note and route it: here is the suggestion, both models' confidence, and the words that drove it. 2. Open the step-by-step pages: this is how each model took the note apart. 3. Now a note from dermatology, a department it was never trained on: the models disagree, so there is no fast track; it goes to full review with two suggestions. 4. I confirm or change the department: my name is recorded, a change needs a reason, and the audit log stores the decision without the note text. [Back to the slides.] Immanuel will close with how we built this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IMMANUEL (40 s). Notes are health data, so we built the law in. A named person decides every note: this is GDPR Article 22, and in Mauritius section 38(3) of the Data Protection Act bars automated evaluation based on health data. Identifiers are removed before the models read a note, and it costs no accuracy. The audit log never stores the note text. We measured performance by sex and age and found no gap beyond the uncertainty, but the groups are small, so we do not claim fairness. Under the EU AI Act we are minimal risk; emergency triage would make it high-risk. The one thing we refuse: automatic routing with no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IMMANUEL (25 s). Our ask: back a one-month shadow pilot in one department. The tool only suggests while staff route as today, and we compare. Then we retrain on local notes, set new thresholds and add an 'other department' class. Then it goes live with two keys and a person on every note, never automatic. It is cheap: one CPU routes about 10,500 notes an hour. What breaks first is unknown departments, local language and reviewer attention, and the pilot measures all three. Thank you; we are happy to take questions on any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400800" cy="12801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731520" y="3246120"/>
            <a:ext cx="640080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Team Zero · Clinical Note Router</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bg2"/>
                </a:solidFill>
              </a:rPr>
              <a:t>Team Zero · Clinical Note Router</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400800" cy="1280160"/>
          </a:xfrm>
          <a:prstGeom prst="rect">
            <a:avLst/>
          </a:prstGeom>
          <a:noFill/>
          <a:ln/>
        </p:spPr>
        <p:txBody>
          <a:bodyPr wrap="square" lIns="0" tIns="0" rIns="0" bIns="0" rtlCol="0" anchor="b"/>
          <a:lstStyle/>
          <a:p>
            <a:pPr algn="l" indent="0" marL="0">
              <a:buNone/>
            </a:pPr>
            <a:r>
              <a:rPr lang="en-US" sz="5000" b="1" dirty="0">
                <a:solidFill>
                  <a:schemeClr val="bg1"/>
                </a:solidFill>
              </a:rPr>
              <a:t>Clinical Note Router</a:t>
            </a:r>
            <a:endParaRPr lang="en-US" sz="5000" dirty="0"/>
          </a:p>
        </p:txBody>
      </p:sp>
      <p:sp>
        <p:nvSpPr>
          <p:cNvPr id="3" name="Text 0"/>
          <p:cNvSpPr/>
          <p:nvPr>
            <p:ph idx="101" type="body" hasCustomPrompt="1"/>
          </p:nvPr>
        </p:nvSpPr>
        <p:spPr>
          <a:xfrm>
            <a:off x="731520" y="3246120"/>
            <a:ext cx="6400800" cy="1005840"/>
          </a:xfrm>
          <a:prstGeom prst="rect">
            <a:avLst/>
          </a:prstGeom>
          <a:noFill/>
          <a:ln/>
        </p:spPr>
        <p:txBody>
          <a:bodyPr wrap="square" lIns="0" tIns="0" rIns="0" bIns="0" rtlCol="0" anchor="t"/>
          <a:lstStyle/>
          <a:p>
            <a:pPr algn="l" indent="0" marL="0">
              <a:buNone/>
            </a:pPr>
            <a:r>
              <a:rPr lang="en-US" sz="2000" dirty="0">
                <a:solidFill>
                  <a:schemeClr val="bg2"/>
                </a:solidFill>
              </a:rPr>
              <a:t>Every clinical note to the right specialist, first time, with a person deciding</a:t>
            </a:r>
            <a:endParaRPr lang="en-US" sz="2000" dirty="0"/>
          </a:p>
        </p:txBody>
      </p:sp>
      <p:sp>
        <p:nvSpPr>
          <p:cNvPr id="4" name="Text 2"/>
          <p:cNvSpPr txBox="1"/>
          <p:nvPr/>
        </p:nvSpPr>
        <p:spPr>
          <a:xfrm>
            <a:off x="731520" y="4892040"/>
            <a:ext cx="6583680" cy="320040"/>
          </a:xfrm>
          <a:prstGeom prst="rect">
            <a:avLst/>
          </a:prstGeom>
          <a:noFill/>
          <a:ln/>
        </p:spPr>
        <p:txBody>
          <a:bodyPr wrap="square" lIns="0" tIns="0" rIns="0" bIns="0" rtlCol="0" anchor="t"/>
          <a:lstStyle/>
          <a:p>
            <a:pPr indent="0" marL="0">
              <a:buNone/>
            </a:pPr>
            <a:r>
              <a:rPr lang="en-US" sz="1400" dirty="0">
                <a:solidFill>
                  <a:schemeClr val="bg2"/>
                </a:solidFill>
              </a:rPr>
              <a:t>Team Zero · MA6700 Applied AI and Machine Learning · 31 October 2026</a:t>
            </a:r>
            <a:endParaRPr lang="en-US" sz="1400" dirty="0"/>
          </a:p>
        </p:txBody>
      </p:sp>
      <p:sp>
        <p:nvSpPr>
          <p:cNvPr id="5" name="Text 3"/>
          <p:cNvSpPr txBox="1"/>
          <p:nvPr/>
        </p:nvSpPr>
        <p:spPr>
          <a:xfrm>
            <a:off x="731520" y="5257800"/>
            <a:ext cx="6949440" cy="320040"/>
          </a:xfrm>
          <a:prstGeom prst="rect">
            <a:avLst/>
          </a:prstGeom>
          <a:noFill/>
          <a:ln/>
        </p:spPr>
        <p:txBody>
          <a:bodyPr wrap="square" lIns="0" tIns="0" rIns="0" bIns="0" rtlCol="0" anchor="t"/>
          <a:lstStyle/>
          <a:p>
            <a:pPr indent="0" marL="0">
              <a:buNone/>
            </a:pPr>
            <a:r>
              <a:rPr lang="en-US" sz="1400" dirty="0">
                <a:solidFill>
                  <a:schemeClr val="accent4"/>
                </a:solidFill>
              </a:rPr>
              <a:t>Immanuel James Wong Hon Leung · Mevin Ramjeet · Jeffrey Li Chiu Lim · Deevesh Rughoo</a:t>
            </a:r>
            <a:endParaRPr lang="en-US" sz="1400" dirty="0"/>
          </a:p>
        </p:txBody>
      </p:sp>
      <p:sp>
        <p:nvSpPr>
          <p:cNvPr id="6" name="Text 4"/>
          <p:cNvSpPr txBox="1"/>
          <p:nvPr/>
        </p:nvSpPr>
        <p:spPr>
          <a:xfrm>
            <a:off x="8001000" y="1600200"/>
            <a:ext cx="3657600" cy="320040"/>
          </a:xfrm>
          <a:prstGeom prst="rect">
            <a:avLst/>
          </a:prstGeom>
          <a:noFill/>
          <a:ln/>
        </p:spPr>
        <p:txBody>
          <a:bodyPr wrap="square" lIns="0" tIns="0" rIns="0" bIns="0" rtlCol="0" anchor="t"/>
          <a:lstStyle/>
          <a:p>
            <a:pPr indent="0" marL="0">
              <a:buNone/>
            </a:pPr>
            <a:r>
              <a:rPr lang="en-US" sz="1400" dirty="0">
                <a:solidFill>
                  <a:schemeClr val="accent4"/>
                </a:solidFill>
              </a:rPr>
              <a:t>9 departments</a:t>
            </a:r>
            <a:endParaRPr lang="en-US" sz="1400" dirty="0"/>
          </a:p>
        </p:txBody>
      </p:sp>
      <p:sp>
        <p:nvSpPr>
          <p:cNvPr id="7" name="dept-chip"/>
          <p:cNvSpPr/>
          <p:nvPr/>
        </p:nvSpPr>
        <p:spPr>
          <a:xfrm>
            <a:off x="8001000" y="20116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8" name="Text 6"/>
          <p:cNvSpPr txBox="1"/>
          <p:nvPr/>
        </p:nvSpPr>
        <p:spPr>
          <a:xfrm>
            <a:off x="8001000" y="20116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Cardio / Pulm</a:t>
            </a:r>
            <a:endParaRPr lang="en-US" sz="1200" dirty="0"/>
          </a:p>
        </p:txBody>
      </p:sp>
      <p:sp>
        <p:nvSpPr>
          <p:cNvPr id="9" name="dept-chip"/>
          <p:cNvSpPr/>
          <p:nvPr/>
        </p:nvSpPr>
        <p:spPr>
          <a:xfrm>
            <a:off x="9299448" y="20116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10" name="Text 8"/>
          <p:cNvSpPr txBox="1"/>
          <p:nvPr/>
        </p:nvSpPr>
        <p:spPr>
          <a:xfrm>
            <a:off x="9299448" y="20116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Orthopedic</a:t>
            </a:r>
            <a:endParaRPr lang="en-US" sz="1200" dirty="0"/>
          </a:p>
        </p:txBody>
      </p:sp>
      <p:sp>
        <p:nvSpPr>
          <p:cNvPr id="11" name="dept-chip"/>
          <p:cNvSpPr/>
          <p:nvPr/>
        </p:nvSpPr>
        <p:spPr>
          <a:xfrm>
            <a:off x="10597896" y="20116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12" name="Text 10"/>
          <p:cNvSpPr txBox="1"/>
          <p:nvPr/>
        </p:nvSpPr>
        <p:spPr>
          <a:xfrm>
            <a:off x="10597896" y="20116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Gen Medicine</a:t>
            </a:r>
            <a:endParaRPr lang="en-US" sz="1200" dirty="0"/>
          </a:p>
        </p:txBody>
      </p:sp>
      <p:sp>
        <p:nvSpPr>
          <p:cNvPr id="13" name="dept-chip"/>
          <p:cNvSpPr/>
          <p:nvPr/>
        </p:nvSpPr>
        <p:spPr>
          <a:xfrm>
            <a:off x="8001000" y="26974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14" name="Text 12"/>
          <p:cNvSpPr txBox="1"/>
          <p:nvPr/>
        </p:nvSpPr>
        <p:spPr>
          <a:xfrm>
            <a:off x="8001000" y="26974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Gastro</a:t>
            </a:r>
            <a:endParaRPr lang="en-US" sz="1200" dirty="0"/>
          </a:p>
        </p:txBody>
      </p:sp>
      <p:sp>
        <p:nvSpPr>
          <p:cNvPr id="15" name="dept-chip"/>
          <p:cNvSpPr/>
          <p:nvPr/>
        </p:nvSpPr>
        <p:spPr>
          <a:xfrm>
            <a:off x="9299448" y="26974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16" name="Text 14"/>
          <p:cNvSpPr txBox="1"/>
          <p:nvPr/>
        </p:nvSpPr>
        <p:spPr>
          <a:xfrm>
            <a:off x="9299448" y="26974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Ob / Gyn</a:t>
            </a:r>
            <a:endParaRPr lang="en-US" sz="1200" dirty="0"/>
          </a:p>
        </p:txBody>
      </p:sp>
      <p:sp>
        <p:nvSpPr>
          <p:cNvPr id="17" name="dept-chip"/>
          <p:cNvSpPr/>
          <p:nvPr/>
        </p:nvSpPr>
        <p:spPr>
          <a:xfrm>
            <a:off x="10597896" y="26974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18" name="Text 16"/>
          <p:cNvSpPr txBox="1"/>
          <p:nvPr/>
        </p:nvSpPr>
        <p:spPr>
          <a:xfrm>
            <a:off x="10597896" y="26974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Urology</a:t>
            </a:r>
            <a:endParaRPr lang="en-US" sz="1200" dirty="0"/>
          </a:p>
        </p:txBody>
      </p:sp>
      <p:sp>
        <p:nvSpPr>
          <p:cNvPr id="19" name="dept-chip"/>
          <p:cNvSpPr/>
          <p:nvPr/>
        </p:nvSpPr>
        <p:spPr>
          <a:xfrm>
            <a:off x="8001000" y="3383280"/>
            <a:ext cx="1188720" cy="502920"/>
          </a:xfrm>
          <a:prstGeom prst="roundRect">
            <a:avLst>
              <a:gd name="adj" fmla="val 18182"/>
            </a:avLst>
          </a:prstGeom>
          <a:solidFill>
            <a:schemeClr val="accent2"/>
          </a:solidFill>
          <a:ln w="12700">
            <a:solidFill>
              <a:schemeClr val="accent2"/>
            </a:solidFill>
            <a:prstDash val="solid"/>
          </a:ln>
        </p:spPr>
      </p:sp>
      <p:sp>
        <p:nvSpPr>
          <p:cNvPr id="20" name="Text 18"/>
          <p:cNvSpPr txBox="1"/>
          <p:nvPr/>
        </p:nvSpPr>
        <p:spPr>
          <a:xfrm>
            <a:off x="8001000" y="3383280"/>
            <a:ext cx="1188720" cy="502920"/>
          </a:xfrm>
          <a:prstGeom prst="rect">
            <a:avLst/>
          </a:prstGeom>
          <a:noFill/>
          <a:ln/>
        </p:spPr>
        <p:txBody>
          <a:bodyPr wrap="square" lIns="0" tIns="0" rIns="0" bIns="0" rtlCol="0" anchor="ctr"/>
          <a:lstStyle/>
          <a:p>
            <a:pPr algn="ctr" indent="0" marL="0">
              <a:buNone/>
            </a:pPr>
            <a:r>
              <a:rPr lang="en-US" sz="1200" b="1" dirty="0">
                <a:solidFill>
                  <a:schemeClr val="tx2"/>
                </a:solidFill>
              </a:rPr>
              <a:t>Neurology</a:t>
            </a:r>
            <a:endParaRPr lang="en-US" sz="1200" dirty="0"/>
          </a:p>
        </p:txBody>
      </p:sp>
      <p:sp>
        <p:nvSpPr>
          <p:cNvPr id="21" name="dept-chip"/>
          <p:cNvSpPr/>
          <p:nvPr/>
        </p:nvSpPr>
        <p:spPr>
          <a:xfrm>
            <a:off x="9299448" y="33832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22" name="Text 20"/>
          <p:cNvSpPr txBox="1"/>
          <p:nvPr/>
        </p:nvSpPr>
        <p:spPr>
          <a:xfrm>
            <a:off x="9299448" y="33832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ENT</a:t>
            </a:r>
            <a:endParaRPr lang="en-US" sz="1200" dirty="0"/>
          </a:p>
        </p:txBody>
      </p:sp>
      <p:sp>
        <p:nvSpPr>
          <p:cNvPr id="23" name="dept-chip"/>
          <p:cNvSpPr/>
          <p:nvPr/>
        </p:nvSpPr>
        <p:spPr>
          <a:xfrm>
            <a:off x="10597896" y="3383280"/>
            <a:ext cx="1188720" cy="502920"/>
          </a:xfrm>
          <a:prstGeom prst="roundRect">
            <a:avLst>
              <a:gd name="adj" fmla="val 18182"/>
            </a:avLst>
          </a:prstGeom>
          <a:solidFill>
            <a:schemeClr val="accent1">
              <a:alpha val="45000"/>
            </a:schemeClr>
          </a:solidFill>
          <a:ln w="12700">
            <a:solidFill>
              <a:schemeClr val="accent1"/>
            </a:solidFill>
            <a:prstDash val="solid"/>
          </a:ln>
        </p:spPr>
      </p:sp>
      <p:sp>
        <p:nvSpPr>
          <p:cNvPr id="24" name="Text 22"/>
          <p:cNvSpPr txBox="1"/>
          <p:nvPr/>
        </p:nvSpPr>
        <p:spPr>
          <a:xfrm>
            <a:off x="10597896" y="3383280"/>
            <a:ext cx="1188720" cy="502920"/>
          </a:xfrm>
          <a:prstGeom prst="rect">
            <a:avLst/>
          </a:prstGeom>
          <a:noFill/>
          <a:ln/>
        </p:spPr>
        <p:txBody>
          <a:bodyPr wrap="square" lIns="0" tIns="0" rIns="0" bIns="0" rtlCol="0" anchor="ctr"/>
          <a:lstStyle/>
          <a:p>
            <a:pPr algn="ctr" indent="0" marL="0">
              <a:buNone/>
            </a:pPr>
            <a:r>
              <a:rPr lang="en-US" sz="1200" dirty="0">
                <a:solidFill>
                  <a:schemeClr val="bg1"/>
                </a:solidFill>
              </a:rPr>
              <a:t>Ophthalmology</a:t>
            </a:r>
            <a:endParaRPr lang="en-US" sz="1200" dirty="0"/>
          </a:p>
        </p:txBody>
      </p:sp>
      <p:pic>
        <p:nvPicPr>
          <p:cNvPr id="25" name="note-icon" descr="preencoded.png">    </p:cNvPr>
          <p:cNvPicPr>
            <a:picLocks noChangeAspect="1"/>
          </p:cNvPicPr>
          <p:nvPr/>
        </p:nvPicPr>
        <p:blipFill>
          <a:blip r:embed="rId1"/>
          <a:stretch>
            <a:fillRect/>
          </a:stretch>
        </p:blipFill>
        <p:spPr>
          <a:xfrm>
            <a:off x="9052560" y="4206240"/>
            <a:ext cx="822960" cy="822960"/>
          </a:xfrm>
          <a:prstGeom prst="rect">
            <a:avLst/>
          </a:prstGeom>
        </p:spPr>
      </p:pic>
      <p:sp>
        <p:nvSpPr>
          <p:cNvPr id="26" name="Text 23"/>
          <p:cNvSpPr txBox="1"/>
          <p:nvPr/>
        </p:nvSpPr>
        <p:spPr>
          <a:xfrm>
            <a:off x="8001000" y="5074920"/>
            <a:ext cx="3749040" cy="320040"/>
          </a:xfrm>
          <a:prstGeom prst="rect">
            <a:avLst/>
          </a:prstGeom>
          <a:noFill/>
          <a:ln/>
        </p:spPr>
        <p:txBody>
          <a:bodyPr wrap="square" lIns="0" tIns="0" rIns="0" bIns="0" rtlCol="0" anchor="t"/>
          <a:lstStyle/>
          <a:p>
            <a:pPr algn="ctr" indent="0" marL="0">
              <a:buNone/>
            </a:pPr>
            <a:r>
              <a:rPr lang="en-US" sz="1200" dirty="0">
                <a:solidFill>
                  <a:schemeClr val="accent4"/>
                </a:solidFill>
              </a:rPr>
              <a:t>one note in, one suggested department out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 misrouted note is two errors at once</a:t>
            </a:r>
            <a:endParaRPr lang="en-US" sz="3400" dirty="0"/>
          </a:p>
        </p:txBody>
      </p:sp>
      <p:sp>
        <p:nvSpPr>
          <p:cNvPr id="3" name="Text 1"/>
          <p:cNvSpPr txBox="1"/>
          <p:nvPr/>
        </p:nvSpPr>
        <p:spPr>
          <a:xfrm>
            <a:off x="548640" y="1417320"/>
            <a:ext cx="5029200" cy="365760"/>
          </a:xfrm>
          <a:prstGeom prst="rect">
            <a:avLst/>
          </a:prstGeom>
          <a:noFill/>
          <a:ln/>
        </p:spPr>
        <p:txBody>
          <a:bodyPr wrap="square" lIns="0" tIns="0" rIns="0" bIns="0" rtlCol="0" anchor="t"/>
          <a:lstStyle/>
          <a:p>
            <a:pPr indent="0" marL="0">
              <a:buNone/>
            </a:pPr>
            <a:r>
              <a:rPr lang="en-US" sz="1800" b="1" dirty="0">
                <a:solidFill>
                  <a:schemeClr val="accent1"/>
                </a:solidFill>
              </a:rPr>
              <a:t>Today, at every hospital</a:t>
            </a:r>
            <a:endParaRPr lang="en-US" sz="1800" dirty="0"/>
          </a:p>
        </p:txBody>
      </p:sp>
      <p:sp>
        <p:nvSpPr>
          <p:cNvPr id="4" name="icon-circle"/>
          <p:cNvSpPr/>
          <p:nvPr/>
        </p:nvSpPr>
        <p:spPr>
          <a:xfrm>
            <a:off x="548640" y="1965960"/>
            <a:ext cx="566928" cy="566928"/>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662026" y="2079346"/>
            <a:ext cx="340157" cy="340157"/>
          </a:xfrm>
          <a:prstGeom prst="rect">
            <a:avLst/>
          </a:prstGeom>
        </p:spPr>
      </p:pic>
      <p:sp>
        <p:nvSpPr>
          <p:cNvPr id="6" name="Text 3"/>
          <p:cNvSpPr txBox="1"/>
          <p:nvPr/>
        </p:nvSpPr>
        <p:spPr>
          <a:xfrm>
            <a:off x="1280160" y="2039112"/>
            <a:ext cx="4206240" cy="457200"/>
          </a:xfrm>
          <a:prstGeom prst="rect">
            <a:avLst/>
          </a:prstGeom>
          <a:noFill/>
          <a:ln/>
        </p:spPr>
        <p:txBody>
          <a:bodyPr wrap="square" lIns="0" tIns="0" rIns="0" bIns="0" rtlCol="0" anchor="ctr"/>
          <a:lstStyle/>
          <a:p>
            <a:pPr indent="0" marL="0">
              <a:buNone/>
            </a:pPr>
            <a:r>
              <a:rPr lang="en-US" sz="1600" dirty="0">
                <a:solidFill>
                  <a:schemeClr val="tx1"/>
                </a:solidFill>
              </a:rPr>
              <a:t>A note or referral arrives</a:t>
            </a:r>
            <a:endParaRPr lang="en-US" sz="1600" dirty="0"/>
          </a:p>
        </p:txBody>
      </p:sp>
      <p:sp>
        <p:nvSpPr>
          <p:cNvPr id="7" name="icon-circle"/>
          <p:cNvSpPr/>
          <p:nvPr/>
        </p:nvSpPr>
        <p:spPr>
          <a:xfrm>
            <a:off x="548640" y="2926080"/>
            <a:ext cx="566928" cy="566928"/>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2"/>
          <a:stretch>
            <a:fillRect/>
          </a:stretch>
        </p:blipFill>
        <p:spPr>
          <a:xfrm>
            <a:off x="662026" y="3039466"/>
            <a:ext cx="340157" cy="340157"/>
          </a:xfrm>
          <a:prstGeom prst="rect">
            <a:avLst/>
          </a:prstGeom>
        </p:spPr>
      </p:pic>
      <p:sp>
        <p:nvSpPr>
          <p:cNvPr id="9" name="Text 5"/>
          <p:cNvSpPr txBox="1"/>
          <p:nvPr/>
        </p:nvSpPr>
        <p:spPr>
          <a:xfrm>
            <a:off x="1280160" y="2999232"/>
            <a:ext cx="4206240" cy="457200"/>
          </a:xfrm>
          <a:prstGeom prst="rect">
            <a:avLst/>
          </a:prstGeom>
          <a:noFill/>
          <a:ln/>
        </p:spPr>
        <p:txBody>
          <a:bodyPr wrap="square" lIns="0" tIns="0" rIns="0" bIns="0" rtlCol="0" anchor="ctr"/>
          <a:lstStyle/>
          <a:p>
            <a:pPr indent="0" marL="0">
              <a:buNone/>
            </a:pPr>
            <a:r>
              <a:rPr lang="en-US" sz="1600" dirty="0">
                <a:solidFill>
                  <a:schemeClr val="tx1"/>
                </a:solidFill>
              </a:rPr>
              <a:t>A person reads it and chooses a department</a:t>
            </a:r>
            <a:endParaRPr lang="en-US" sz="1600" dirty="0"/>
          </a:p>
        </p:txBody>
      </p:sp>
      <p:sp>
        <p:nvSpPr>
          <p:cNvPr id="10" name="icon-circle"/>
          <p:cNvSpPr/>
          <p:nvPr/>
        </p:nvSpPr>
        <p:spPr>
          <a:xfrm>
            <a:off x="548640" y="3886200"/>
            <a:ext cx="566928" cy="566928"/>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3"/>
          <a:stretch>
            <a:fillRect/>
          </a:stretch>
        </p:blipFill>
        <p:spPr>
          <a:xfrm>
            <a:off x="662026" y="3999586"/>
            <a:ext cx="340157" cy="340157"/>
          </a:xfrm>
          <a:prstGeom prst="rect">
            <a:avLst/>
          </a:prstGeom>
        </p:spPr>
      </p:pic>
      <p:sp>
        <p:nvSpPr>
          <p:cNvPr id="12" name="Text 7"/>
          <p:cNvSpPr txBox="1"/>
          <p:nvPr/>
        </p:nvSpPr>
        <p:spPr>
          <a:xfrm>
            <a:off x="1280160" y="3959352"/>
            <a:ext cx="4206240" cy="457200"/>
          </a:xfrm>
          <a:prstGeom prst="rect">
            <a:avLst/>
          </a:prstGeom>
          <a:noFill/>
          <a:ln/>
        </p:spPr>
        <p:txBody>
          <a:bodyPr wrap="square" lIns="0" tIns="0" rIns="0" bIns="0" rtlCol="0" anchor="ctr"/>
          <a:lstStyle/>
          <a:p>
            <a:pPr indent="0" marL="0">
              <a:buNone/>
            </a:pPr>
            <a:r>
              <a:rPr lang="en-US" sz="1600" dirty="0">
                <a:solidFill>
                  <a:schemeClr val="tx1"/>
                </a:solidFill>
              </a:rPr>
              <a:t>The department acts on it, or sends it back</a:t>
            </a:r>
            <a:endParaRPr lang="en-US" sz="1600" dirty="0"/>
          </a:p>
        </p:txBody>
      </p:sp>
      <p:sp>
        <p:nvSpPr>
          <p:cNvPr id="13" name="Text 8"/>
          <p:cNvSpPr txBox="1"/>
          <p:nvPr/>
        </p:nvSpPr>
        <p:spPr>
          <a:xfrm>
            <a:off x="548640" y="4937760"/>
            <a:ext cx="5029200" cy="914400"/>
          </a:xfrm>
          <a:prstGeom prst="rect">
            <a:avLst/>
          </a:prstGeom>
          <a:noFill/>
          <a:ln/>
        </p:spPr>
        <p:txBody>
          <a:bodyPr wrap="square" lIns="0" tIns="0" rIns="0" bIns="0" rtlCol="0" anchor="t"/>
          <a:lstStyle/>
          <a:p>
            <a:pPr indent="0" marL="0">
              <a:buNone/>
            </a:pPr>
            <a:r>
              <a:rPr lang="en-US" sz="1400" dirty="0">
                <a:solidFill>
                  <a:schemeClr val="accent5"/>
                </a:solidFill>
              </a:rPr>
              <a:t>Who has it: referral coordinators and medical secretaries; in Mauritius, regional hospitals that receive referrals from many area health centres.</a:t>
            </a:r>
            <a:endParaRPr lang="en-US" sz="1400" dirty="0"/>
          </a:p>
        </p:txBody>
      </p:sp>
      <p:sp>
        <p:nvSpPr>
          <p:cNvPr id="14" name="error-1"/>
          <p:cNvSpPr/>
          <p:nvPr/>
        </p:nvSpPr>
        <p:spPr>
          <a:xfrm>
            <a:off x="6126480" y="1417320"/>
            <a:ext cx="5486400" cy="2103120"/>
          </a:xfrm>
          <a:prstGeom prst="roundRect">
            <a:avLst>
              <a:gd name="adj" fmla="val 5217"/>
            </a:avLst>
          </a:prstGeom>
          <a:solidFill>
            <a:schemeClr val="bg2"/>
          </a:solidFill>
          <a:ln w="12700">
            <a:solidFill>
              <a:schemeClr val="bg2"/>
            </a:solidFill>
            <a:prstDash val="solid"/>
          </a:ln>
        </p:spPr>
      </p:sp>
      <p:sp>
        <p:nvSpPr>
          <p:cNvPr id="15" name="icon-circle"/>
          <p:cNvSpPr/>
          <p:nvPr/>
        </p:nvSpPr>
        <p:spPr>
          <a:xfrm>
            <a:off x="6400800" y="1691640"/>
            <a:ext cx="566928" cy="566928"/>
          </a:xfrm>
          <a:prstGeom prst="ellipse">
            <a:avLst/>
          </a:prstGeom>
          <a:solidFill>
            <a:schemeClr val="accent3"/>
          </a:solidFill>
          <a:ln w="12700">
            <a:solidFill>
              <a:schemeClr val="accent3"/>
            </a:solidFill>
            <a:prstDash val="solid"/>
          </a:ln>
        </p:spPr>
      </p:sp>
      <p:pic>
        <p:nvPicPr>
          <p:cNvPr id="16" name="icon" descr="preencoded.png">    </p:cNvPr>
          <p:cNvPicPr>
            <a:picLocks noChangeAspect="1"/>
          </p:cNvPicPr>
          <p:nvPr/>
        </p:nvPicPr>
        <p:blipFill>
          <a:blip r:embed="rId4"/>
          <a:stretch>
            <a:fillRect/>
          </a:stretch>
        </p:blipFill>
        <p:spPr>
          <a:xfrm>
            <a:off x="6514186" y="1805026"/>
            <a:ext cx="340157" cy="340157"/>
          </a:xfrm>
          <a:prstGeom prst="rect">
            <a:avLst/>
          </a:prstGeom>
        </p:spPr>
      </p:pic>
      <p:sp>
        <p:nvSpPr>
          <p:cNvPr id="17" name="Text 11"/>
          <p:cNvSpPr txBox="1"/>
          <p:nvPr/>
        </p:nvSpPr>
        <p:spPr>
          <a:xfrm>
            <a:off x="7178040" y="1691640"/>
            <a:ext cx="4297680" cy="411480"/>
          </a:xfrm>
          <a:prstGeom prst="rect">
            <a:avLst/>
          </a:prstGeom>
          <a:noFill/>
          <a:ln/>
        </p:spPr>
        <p:txBody>
          <a:bodyPr wrap="square" lIns="0" tIns="0" rIns="0" bIns="0" rtlCol="0" anchor="t"/>
          <a:lstStyle/>
          <a:p>
            <a:pPr indent="0" marL="0">
              <a:buNone/>
            </a:pPr>
            <a:r>
              <a:rPr lang="en-US" sz="1800" b="1" dirty="0">
                <a:solidFill>
                  <a:schemeClr val="tx2"/>
                </a:solidFill>
              </a:rPr>
              <a:t>The right department never sees it</a:t>
            </a:r>
            <a:endParaRPr lang="en-US" sz="1800" dirty="0"/>
          </a:p>
        </p:txBody>
      </p:sp>
      <p:sp>
        <p:nvSpPr>
          <p:cNvPr id="18" name="Text 12"/>
          <p:cNvSpPr txBox="1"/>
          <p:nvPr/>
        </p:nvSpPr>
        <p:spPr>
          <a:xfrm>
            <a:off x="7178040" y="2194560"/>
            <a:ext cx="4206240" cy="1097280"/>
          </a:xfrm>
          <a:prstGeom prst="rect">
            <a:avLst/>
          </a:prstGeom>
          <a:noFill/>
          <a:ln/>
        </p:spPr>
        <p:txBody>
          <a:bodyPr wrap="square" lIns="0" tIns="0" rIns="0" bIns="0" rtlCol="0" anchor="t"/>
          <a:lstStyle/>
          <a:p>
            <a:pPr indent="0" marL="0">
              <a:buNone/>
            </a:pPr>
            <a:r>
              <a:rPr lang="en-US" sz="1600" dirty="0">
                <a:solidFill>
                  <a:schemeClr val="tx1"/>
                </a:solidFill>
              </a:rPr>
              <a:t>The patient waits. A delay in specialist care can harm the patient.</a:t>
            </a:r>
            <a:endParaRPr lang="en-US" sz="1600" dirty="0"/>
          </a:p>
        </p:txBody>
      </p:sp>
      <p:sp>
        <p:nvSpPr>
          <p:cNvPr id="19" name="error-2"/>
          <p:cNvSpPr/>
          <p:nvPr/>
        </p:nvSpPr>
        <p:spPr>
          <a:xfrm>
            <a:off x="6126480" y="3749040"/>
            <a:ext cx="5486400" cy="2103120"/>
          </a:xfrm>
          <a:prstGeom prst="roundRect">
            <a:avLst>
              <a:gd name="adj" fmla="val 5217"/>
            </a:avLst>
          </a:prstGeom>
          <a:solidFill>
            <a:schemeClr val="bg2"/>
          </a:solidFill>
          <a:ln w="12700">
            <a:solidFill>
              <a:schemeClr val="bg2"/>
            </a:solidFill>
            <a:prstDash val="solid"/>
          </a:ln>
        </p:spPr>
      </p:sp>
      <p:sp>
        <p:nvSpPr>
          <p:cNvPr id="20" name="icon-circle"/>
          <p:cNvSpPr/>
          <p:nvPr/>
        </p:nvSpPr>
        <p:spPr>
          <a:xfrm>
            <a:off x="6400800" y="4023360"/>
            <a:ext cx="566928" cy="566928"/>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5"/>
          <a:stretch>
            <a:fillRect/>
          </a:stretch>
        </p:blipFill>
        <p:spPr>
          <a:xfrm>
            <a:off x="6514186" y="4136746"/>
            <a:ext cx="340157" cy="340157"/>
          </a:xfrm>
          <a:prstGeom prst="rect">
            <a:avLst/>
          </a:prstGeom>
        </p:spPr>
      </p:pic>
      <p:sp>
        <p:nvSpPr>
          <p:cNvPr id="22" name="Text 15"/>
          <p:cNvSpPr txBox="1"/>
          <p:nvPr/>
        </p:nvSpPr>
        <p:spPr>
          <a:xfrm>
            <a:off x="7178040" y="4023360"/>
            <a:ext cx="4297680" cy="411480"/>
          </a:xfrm>
          <a:prstGeom prst="rect">
            <a:avLst/>
          </a:prstGeom>
          <a:noFill/>
          <a:ln/>
        </p:spPr>
        <p:txBody>
          <a:bodyPr wrap="square" lIns="0" tIns="0" rIns="0" bIns="0" rtlCol="0" anchor="t"/>
          <a:lstStyle/>
          <a:p>
            <a:pPr indent="0" marL="0">
              <a:buNone/>
            </a:pPr>
            <a:r>
              <a:rPr lang="en-US" sz="1800" b="1" dirty="0">
                <a:solidFill>
                  <a:schemeClr val="tx2"/>
                </a:solidFill>
              </a:rPr>
              <a:t>The wrong department gets it</a:t>
            </a:r>
            <a:endParaRPr lang="en-US" sz="1800" dirty="0"/>
          </a:p>
        </p:txBody>
      </p:sp>
      <p:sp>
        <p:nvSpPr>
          <p:cNvPr id="23" name="Text 16"/>
          <p:cNvSpPr txBox="1"/>
          <p:nvPr/>
        </p:nvSpPr>
        <p:spPr>
          <a:xfrm>
            <a:off x="7178040" y="4526280"/>
            <a:ext cx="4206240" cy="1097280"/>
          </a:xfrm>
          <a:prstGeom prst="rect">
            <a:avLst/>
          </a:prstGeom>
          <a:noFill/>
          <a:ln/>
        </p:spPr>
        <p:txBody>
          <a:bodyPr wrap="square" lIns="0" tIns="0" rIns="0" bIns="0" rtlCol="0" anchor="t"/>
          <a:lstStyle/>
          <a:p>
            <a:pPr indent="0" marL="0">
              <a:buNone/>
            </a:pPr>
            <a:r>
              <a:rPr lang="en-US" sz="1600" dirty="0">
                <a:solidFill>
                  <a:schemeClr val="tx1"/>
                </a:solidFill>
              </a:rPr>
              <a:t>A clinician must notice the error and send it back: clinical time lost.</a:t>
            </a:r>
            <a:endParaRPr lang="en-US" sz="1600" dirty="0"/>
          </a:p>
        </p:txBody>
      </p:sp>
      <p:sp>
        <p:nvSpPr>
          <p:cNvPr id="24"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Immanuel James Wong Hon Leung</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Keyword rules miss one note in four</a:t>
            </a:r>
            <a:endParaRPr lang="en-US" sz="3400" dirty="0"/>
          </a:p>
        </p:txBody>
      </p:sp>
      <p:sp>
        <p:nvSpPr>
          <p:cNvPr id="3" name="Text 1"/>
          <p:cNvSpPr txBox="1"/>
          <p:nvPr/>
        </p:nvSpPr>
        <p:spPr>
          <a:xfrm>
            <a:off x="548640" y="1554480"/>
            <a:ext cx="2560320" cy="1005840"/>
          </a:xfrm>
          <a:prstGeom prst="rect">
            <a:avLst/>
          </a:prstGeom>
          <a:noFill/>
          <a:ln/>
        </p:spPr>
        <p:txBody>
          <a:bodyPr wrap="square" lIns="0" tIns="0" rIns="0" bIns="0" rtlCol="0" anchor="t"/>
          <a:lstStyle/>
          <a:p>
            <a:pPr indent="0" marL="0">
              <a:buNone/>
            </a:pPr>
            <a:r>
              <a:rPr lang="en-US" sz="6000" b="1" dirty="0">
                <a:solidFill>
                  <a:schemeClr val="accent3"/>
                </a:solidFill>
                <a:latin typeface="Cambria" pitchFamily="34" charset="0"/>
                <a:ea typeface="Cambria" pitchFamily="34" charset="-122"/>
                <a:cs typeface="Cambria" pitchFamily="34" charset="-120"/>
              </a:rPr>
              <a:t>75%</a:t>
            </a:r>
            <a:endParaRPr lang="en-US" sz="6000" dirty="0"/>
          </a:p>
        </p:txBody>
      </p:sp>
      <p:sp>
        <p:nvSpPr>
          <p:cNvPr id="4" name="Text 2"/>
          <p:cNvSpPr txBox="1"/>
          <p:nvPr/>
        </p:nvSpPr>
        <p:spPr>
          <a:xfrm>
            <a:off x="548640" y="2606040"/>
            <a:ext cx="2560320" cy="822960"/>
          </a:xfrm>
          <a:prstGeom prst="rect">
            <a:avLst/>
          </a:prstGeom>
          <a:noFill/>
          <a:ln/>
        </p:spPr>
        <p:txBody>
          <a:bodyPr wrap="square" lIns="0" tIns="0" rIns="0" bIns="0" rtlCol="0" anchor="t"/>
          <a:lstStyle/>
          <a:p>
            <a:pPr indent="0" marL="0">
              <a:buNone/>
            </a:pPr>
            <a:r>
              <a:rPr lang="en-US" sz="1400" dirty="0">
                <a:solidFill>
                  <a:schemeClr val="tx1"/>
                </a:solidFill>
              </a:rPr>
              <a:t>accuracy of a list of 102 department words (macro F1 0.738)</a:t>
            </a:r>
            <a:endParaRPr lang="en-US" sz="1400" dirty="0"/>
          </a:p>
        </p:txBody>
      </p:sp>
      <p:sp>
        <p:nvSpPr>
          <p:cNvPr id="5" name="Text 3"/>
          <p:cNvSpPr txBox="1"/>
          <p:nvPr/>
        </p:nvSpPr>
        <p:spPr>
          <a:xfrm>
            <a:off x="3291840" y="1554480"/>
            <a:ext cx="256032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94%</a:t>
            </a:r>
            <a:endParaRPr lang="en-US" sz="6000" dirty="0"/>
          </a:p>
        </p:txBody>
      </p:sp>
      <p:sp>
        <p:nvSpPr>
          <p:cNvPr id="6" name="Text 4"/>
          <p:cNvSpPr txBox="1"/>
          <p:nvPr/>
        </p:nvSpPr>
        <p:spPr>
          <a:xfrm>
            <a:off x="3291840" y="2606040"/>
            <a:ext cx="2560320" cy="822960"/>
          </a:xfrm>
          <a:prstGeom prst="rect">
            <a:avLst/>
          </a:prstGeom>
          <a:noFill/>
          <a:ln/>
        </p:spPr>
        <p:txBody>
          <a:bodyPr wrap="square" lIns="0" tIns="0" rIns="0" bIns="0" rtlCol="0" anchor="t"/>
          <a:lstStyle/>
          <a:p>
            <a:pPr indent="0" marL="0">
              <a:buNone/>
            </a:pPr>
            <a:r>
              <a:rPr lang="en-US" sz="1400" dirty="0">
                <a:solidFill>
                  <a:schemeClr val="tx1"/>
                </a:solidFill>
              </a:rPr>
              <a:t>accuracy of our language model on the same 291 test notes (macro F1 0.942)</a:t>
            </a:r>
            <a:endParaRPr lang="en-US" sz="1400" dirty="0"/>
          </a:p>
        </p:txBody>
      </p:sp>
      <p:sp>
        <p:nvSpPr>
          <p:cNvPr id="7" name="Text 5"/>
          <p:cNvSpPr txBox="1"/>
          <p:nvPr/>
        </p:nvSpPr>
        <p:spPr>
          <a:xfrm>
            <a:off x="548640" y="3931920"/>
            <a:ext cx="5303520" cy="1097280"/>
          </a:xfrm>
          <a:prstGeom prst="rect">
            <a:avLst/>
          </a:prstGeom>
          <a:noFill/>
          <a:ln/>
        </p:spPr>
        <p:txBody>
          <a:bodyPr wrap="square" lIns="0" tIns="0" rIns="0" bIns="0" rtlCol="0" anchor="t"/>
          <a:lstStyle/>
          <a:p>
            <a:pPr indent="0" marL="0">
              <a:buNone/>
            </a:pPr>
            <a:r>
              <a:rPr lang="en-US" sz="1600" dirty="0">
                <a:solidFill>
                  <a:schemeClr val="tx1"/>
                </a:solidFill>
              </a:rPr>
              <a:t>We wrote the word list from anatomy and procedures and did not tune it. Rules are wrong on 61 test notes that the model routes correctly.</a:t>
            </a:r>
            <a:endParaRPr lang="en-US" sz="1600" dirty="0"/>
          </a:p>
        </p:txBody>
      </p:sp>
      <p:sp>
        <p:nvSpPr>
          <p:cNvPr id="8" name="example"/>
          <p:cNvSpPr/>
          <p:nvPr/>
        </p:nvSpPr>
        <p:spPr>
          <a:xfrm>
            <a:off x="6309360" y="1417320"/>
            <a:ext cx="5303520" cy="4480560"/>
          </a:xfrm>
          <a:prstGeom prst="roundRect">
            <a:avLst>
              <a:gd name="adj" fmla="val 2449"/>
            </a:avLst>
          </a:prstGeom>
          <a:solidFill>
            <a:schemeClr val="bg2"/>
          </a:solidFill>
          <a:ln w="12700">
            <a:solidFill>
              <a:schemeClr val="bg2"/>
            </a:solidFill>
            <a:prstDash val="solid"/>
          </a:ln>
        </p:spPr>
      </p:sp>
      <p:sp>
        <p:nvSpPr>
          <p:cNvPr id="9" name="Text 7"/>
          <p:cNvSpPr txBox="1"/>
          <p:nvPr/>
        </p:nvSpPr>
        <p:spPr>
          <a:xfrm>
            <a:off x="6583680" y="1645920"/>
            <a:ext cx="4754880" cy="320040"/>
          </a:xfrm>
          <a:prstGeom prst="rect">
            <a:avLst/>
          </a:prstGeom>
          <a:noFill/>
          <a:ln/>
        </p:spPr>
        <p:txBody>
          <a:bodyPr wrap="square" lIns="0" tIns="0" rIns="0" bIns="0" rtlCol="0" anchor="t"/>
          <a:lstStyle/>
          <a:p>
            <a:pPr indent="0" marL="0">
              <a:buNone/>
            </a:pPr>
            <a:r>
              <a:rPr lang="en-US" sz="1400" b="1" dirty="0">
                <a:solidFill>
                  <a:schemeClr val="accent1"/>
                </a:solidFill>
              </a:rPr>
              <a:t>A real test note</a:t>
            </a:r>
            <a:endParaRPr lang="en-US" sz="1400" dirty="0"/>
          </a:p>
        </p:txBody>
      </p:sp>
      <p:sp>
        <p:nvSpPr>
          <p:cNvPr id="10" name="Text 8"/>
          <p:cNvSpPr txBox="1"/>
          <p:nvPr/>
        </p:nvSpPr>
        <p:spPr>
          <a:xfrm>
            <a:off x="6583680" y="2011680"/>
            <a:ext cx="4754880" cy="868680"/>
          </a:xfrm>
          <a:prstGeom prst="rect">
            <a:avLst/>
          </a:prstGeom>
          <a:noFill/>
          <a:ln/>
        </p:spPr>
        <p:txBody>
          <a:bodyPr wrap="square" lIns="0" tIns="0" rIns="0" bIns="0" rtlCol="0" anchor="t"/>
          <a:lstStyle/>
          <a:p>
            <a:pPr indent="0" marL="0">
              <a:buNone/>
            </a:pPr>
            <a:r>
              <a:rPr lang="en-US" sz="1800" b="1" dirty="0">
                <a:solidFill>
                  <a:schemeClr val="tx2"/>
                </a:solidFill>
              </a:rPr>
              <a:t>Diagnostic cerebral angiogram: a 13-year-old boy after clipping of a brain aneurysm</a:t>
            </a:r>
            <a:endParaRPr lang="en-US" sz="1800" dirty="0"/>
          </a:p>
        </p:txBody>
      </p:sp>
      <p:sp>
        <p:nvSpPr>
          <p:cNvPr id="11" name="icon-circle"/>
          <p:cNvSpPr/>
          <p:nvPr/>
        </p:nvSpPr>
        <p:spPr>
          <a:xfrm>
            <a:off x="6583680" y="3108960"/>
            <a:ext cx="502920" cy="502920"/>
          </a:xfrm>
          <a:prstGeom prst="ellipse">
            <a:avLst/>
          </a:prstGeom>
          <a:solidFill>
            <a:schemeClr val="accent3"/>
          </a:solidFill>
          <a:ln w="12700">
            <a:solidFill>
              <a:schemeClr val="accent3"/>
            </a:solidFill>
            <a:prstDash val="solid"/>
          </a:ln>
        </p:spPr>
      </p:sp>
      <p:pic>
        <p:nvPicPr>
          <p:cNvPr id="12" name="icon" descr="preencoded.png">    </p:cNvPr>
          <p:cNvPicPr>
            <a:picLocks noChangeAspect="1"/>
          </p:cNvPicPr>
          <p:nvPr/>
        </p:nvPicPr>
        <p:blipFill>
          <a:blip r:embed="rId1"/>
          <a:stretch>
            <a:fillRect/>
          </a:stretch>
        </p:blipFill>
        <p:spPr>
          <a:xfrm>
            <a:off x="6684264" y="3209544"/>
            <a:ext cx="301752" cy="301752"/>
          </a:xfrm>
          <a:prstGeom prst="rect">
            <a:avLst/>
          </a:prstGeom>
        </p:spPr>
      </p:pic>
      <p:sp>
        <p:nvSpPr>
          <p:cNvPr id="13" name="Text 10"/>
          <p:cNvSpPr txBox="1"/>
          <p:nvPr/>
        </p:nvSpPr>
        <p:spPr>
          <a:xfrm>
            <a:off x="7269480" y="3108960"/>
            <a:ext cx="4114800" cy="822960"/>
          </a:xfrm>
          <a:prstGeom prst="rect">
            <a:avLst/>
          </a:prstGeom>
          <a:noFill/>
          <a:ln/>
        </p:spPr>
        <p:txBody>
          <a:bodyPr wrap="square" lIns="0" tIns="0" rIns="0" bIns="0" rtlCol="0" anchor="t"/>
          <a:lstStyle/>
          <a:p>
            <a:pPr indent="0" marL="0">
              <a:buNone/>
            </a:pPr>
            <a:r>
              <a:rPr lang="en-US" sz="1600" b="1" dirty="0">
                <a:solidFill>
                  <a:schemeClr val="tx1"/>
                </a:solidFill>
              </a:rPr>
              <a:t>Rules: Cardiovascular</a:t>
            </a:r>
            <a:endParaRPr lang="en-US" sz="1600" dirty="0"/>
          </a:p>
          <a:p>
            <a:pPr indent="0" marL="0">
              <a:buNone/>
            </a:pPr>
            <a:r>
              <a:rPr lang="en-US" sz="1600" dirty="0">
                <a:solidFill>
                  <a:schemeClr val="tx1"/>
                </a:solidFill>
              </a:rPr>
              <a:t>"artery" appears 20 times, Neurology words 4</a:t>
            </a:r>
            <a:endParaRPr lang="en-US" sz="1600" dirty="0"/>
          </a:p>
        </p:txBody>
      </p:sp>
      <p:sp>
        <p:nvSpPr>
          <p:cNvPr id="14" name="icon-circle"/>
          <p:cNvSpPr/>
          <p:nvPr/>
        </p:nvSpPr>
        <p:spPr>
          <a:xfrm>
            <a:off x="6583680" y="4114800"/>
            <a:ext cx="502920" cy="502920"/>
          </a:xfrm>
          <a:prstGeom prst="ellipse">
            <a:avLst/>
          </a:prstGeom>
          <a:solidFill>
            <a:schemeClr val="accent6"/>
          </a:solidFill>
          <a:ln w="12700">
            <a:solidFill>
              <a:schemeClr val="accent6"/>
            </a:solidFill>
            <a:prstDash val="solid"/>
          </a:ln>
        </p:spPr>
      </p:sp>
      <p:pic>
        <p:nvPicPr>
          <p:cNvPr id="15" name="icon" descr="preencoded.png">    </p:cNvPr>
          <p:cNvPicPr>
            <a:picLocks noChangeAspect="1"/>
          </p:cNvPicPr>
          <p:nvPr/>
        </p:nvPicPr>
        <p:blipFill>
          <a:blip r:embed="rId2"/>
          <a:stretch>
            <a:fillRect/>
          </a:stretch>
        </p:blipFill>
        <p:spPr>
          <a:xfrm>
            <a:off x="6684264" y="4215384"/>
            <a:ext cx="301752" cy="301752"/>
          </a:xfrm>
          <a:prstGeom prst="rect">
            <a:avLst/>
          </a:prstGeom>
        </p:spPr>
      </p:pic>
      <p:sp>
        <p:nvSpPr>
          <p:cNvPr id="16" name="Text 12"/>
          <p:cNvSpPr txBox="1"/>
          <p:nvPr/>
        </p:nvSpPr>
        <p:spPr>
          <a:xfrm>
            <a:off x="7269480" y="4114800"/>
            <a:ext cx="4114800" cy="822960"/>
          </a:xfrm>
          <a:prstGeom prst="rect">
            <a:avLst/>
          </a:prstGeom>
          <a:noFill/>
          <a:ln/>
        </p:spPr>
        <p:txBody>
          <a:bodyPr wrap="square" lIns="0" tIns="0" rIns="0" bIns="0" rtlCol="0" anchor="t"/>
          <a:lstStyle/>
          <a:p>
            <a:pPr indent="0" marL="0">
              <a:buNone/>
            </a:pPr>
            <a:r>
              <a:rPr lang="en-US" sz="1600" b="1" dirty="0">
                <a:solidFill>
                  <a:schemeClr val="tx1"/>
                </a:solidFill>
              </a:rPr>
              <a:t>Model: Neurology (0.95)</a:t>
            </a:r>
            <a:endParaRPr lang="en-US" sz="1600" dirty="0"/>
          </a:p>
          <a:p>
            <a:pPr indent="0" marL="0">
              <a:buNone/>
            </a:pPr>
            <a:r>
              <a:rPr lang="en-US" sz="1600" dirty="0">
                <a:solidFill>
                  <a:schemeClr val="tx1"/>
                </a:solidFill>
              </a:rPr>
              <a:t>it reads "artery" next to cerebral and aneurysm</a:t>
            </a:r>
            <a:endParaRPr lang="en-US" sz="1600" dirty="0"/>
          </a:p>
        </p:txBody>
      </p:sp>
      <p:sp>
        <p:nvSpPr>
          <p:cNvPr id="17" name="Text 13"/>
          <p:cNvSpPr txBox="1"/>
          <p:nvPr/>
        </p:nvSpPr>
        <p:spPr>
          <a:xfrm>
            <a:off x="6583680" y="5166360"/>
            <a:ext cx="4754880" cy="548640"/>
          </a:xfrm>
          <a:prstGeom prst="rect">
            <a:avLst/>
          </a:prstGeom>
          <a:noFill/>
          <a:ln/>
        </p:spPr>
        <p:txBody>
          <a:bodyPr wrap="square" lIns="0" tIns="0" rIns="0" bIns="0" rtlCol="0" anchor="t"/>
          <a:lstStyle/>
          <a:p>
            <a:pPr indent="0" marL="0">
              <a:buNone/>
            </a:pPr>
            <a:r>
              <a:rPr lang="en-US" sz="1400" i="1" dirty="0">
                <a:solidFill>
                  <a:schemeClr val="tx2"/>
                </a:solidFill>
              </a:rPr>
              <a:t>A word belongs to several departments. Only the context decides.</a:t>
            </a:r>
            <a:endParaRPr lang="en-US" sz="1400" dirty="0"/>
          </a:p>
        </p:txBody>
      </p:sp>
      <p:sp>
        <p:nvSpPr>
          <p:cNvPr id="18"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Immanuel James Wong Hon Leung</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We audited the data before we trusted it</a:t>
            </a:r>
            <a:endParaRPr lang="en-US" sz="3400" dirty="0"/>
          </a:p>
        </p:txBody>
      </p:sp>
      <p:sp>
        <p:nvSpPr>
          <p:cNvPr id="3" name="funnel-bar"/>
          <p:cNvSpPr/>
          <p:nvPr/>
        </p:nvSpPr>
        <p:spPr>
          <a:xfrm>
            <a:off x="548640" y="1463040"/>
            <a:ext cx="3291840" cy="566928"/>
          </a:xfrm>
          <a:prstGeom prst="roundRect">
            <a:avLst>
              <a:gd name="adj" fmla="val 12903"/>
            </a:avLst>
          </a:prstGeom>
          <a:solidFill>
            <a:schemeClr val="accent4">
              <a:alpha val="60000"/>
            </a:schemeClr>
          </a:solidFill>
          <a:ln w="12700">
            <a:solidFill>
              <a:schemeClr val="accent4"/>
            </a:solidFill>
            <a:prstDash val="solid"/>
          </a:ln>
        </p:spPr>
      </p:sp>
      <p:sp>
        <p:nvSpPr>
          <p:cNvPr id="4" name="Text 2"/>
          <p:cNvSpPr txBox="1"/>
          <p:nvPr/>
        </p:nvSpPr>
        <p:spPr>
          <a:xfrm>
            <a:off x="4069080" y="1444752"/>
            <a:ext cx="3840480" cy="320040"/>
          </a:xfrm>
          <a:prstGeom prst="rect">
            <a:avLst/>
          </a:prstGeom>
          <a:noFill/>
          <a:ln/>
        </p:spPr>
        <p:txBody>
          <a:bodyPr wrap="square" lIns="0" tIns="0" rIns="0" bIns="0" rtlCol="0" anchor="t"/>
          <a:lstStyle/>
          <a:p>
            <a:pPr indent="0" marL="0">
              <a:buNone/>
            </a:pPr>
            <a:r>
              <a:rPr lang="en-US" sz="1600" b="1" dirty="0">
                <a:solidFill>
                  <a:schemeClr val="tx2"/>
                </a:solidFill>
              </a:rPr>
              <a:t>4,999 rows</a:t>
            </a:r>
            <a:endParaRPr lang="en-US" sz="1600" dirty="0"/>
          </a:p>
        </p:txBody>
      </p:sp>
      <p:sp>
        <p:nvSpPr>
          <p:cNvPr id="5" name="Text 3"/>
          <p:cNvSpPr txBox="1"/>
          <p:nvPr/>
        </p:nvSpPr>
        <p:spPr>
          <a:xfrm>
            <a:off x="4069080" y="1755648"/>
            <a:ext cx="3840480" cy="566928"/>
          </a:xfrm>
          <a:prstGeom prst="rect">
            <a:avLst/>
          </a:prstGeom>
          <a:noFill/>
          <a:ln/>
        </p:spPr>
        <p:txBody>
          <a:bodyPr wrap="square" lIns="0" tIns="0" rIns="0" bIns="0" rtlCol="0" anchor="t"/>
          <a:lstStyle/>
          <a:p>
            <a:pPr indent="0" marL="0">
              <a:buNone/>
            </a:pPr>
            <a:r>
              <a:rPr lang="en-US" sz="1300" dirty="0">
                <a:solidFill>
                  <a:schemeClr val="accent5"/>
                </a:solidFill>
              </a:rPr>
              <a:t>MTSamples on Kaggle (CC0): public US sample transcriptions</a:t>
            </a:r>
            <a:endParaRPr lang="en-US" sz="1300" dirty="0"/>
          </a:p>
        </p:txBody>
      </p:sp>
      <p:sp>
        <p:nvSpPr>
          <p:cNvPr id="6" name="funnel-bar"/>
          <p:cNvSpPr/>
          <p:nvPr/>
        </p:nvSpPr>
        <p:spPr>
          <a:xfrm>
            <a:off x="548640" y="2377440"/>
            <a:ext cx="1552084" cy="566928"/>
          </a:xfrm>
          <a:prstGeom prst="roundRect">
            <a:avLst>
              <a:gd name="adj" fmla="val 12903"/>
            </a:avLst>
          </a:prstGeom>
          <a:solidFill>
            <a:schemeClr val="accent4">
              <a:alpha val="60000"/>
            </a:schemeClr>
          </a:solidFill>
          <a:ln w="12700">
            <a:solidFill>
              <a:schemeClr val="accent4"/>
            </a:solidFill>
            <a:prstDash val="solid"/>
          </a:ln>
        </p:spPr>
      </p:sp>
      <p:sp>
        <p:nvSpPr>
          <p:cNvPr id="7" name="Text 5"/>
          <p:cNvSpPr txBox="1"/>
          <p:nvPr/>
        </p:nvSpPr>
        <p:spPr>
          <a:xfrm>
            <a:off x="4069080" y="2359152"/>
            <a:ext cx="3840480" cy="320040"/>
          </a:xfrm>
          <a:prstGeom prst="rect">
            <a:avLst/>
          </a:prstGeom>
          <a:noFill/>
          <a:ln/>
        </p:spPr>
        <p:txBody>
          <a:bodyPr wrap="square" lIns="0" tIns="0" rIns="0" bIns="0" rtlCol="0" anchor="t"/>
          <a:lstStyle/>
          <a:p>
            <a:pPr indent="0" marL="0">
              <a:buNone/>
            </a:pPr>
            <a:r>
              <a:rPr lang="en-US" sz="1600" b="1" dirty="0">
                <a:solidFill>
                  <a:schemeClr val="tx2"/>
                </a:solidFill>
              </a:rPr>
              <a:t>2,357 unique notes</a:t>
            </a:r>
            <a:endParaRPr lang="en-US" sz="1600" dirty="0"/>
          </a:p>
        </p:txBody>
      </p:sp>
      <p:sp>
        <p:nvSpPr>
          <p:cNvPr id="8" name="Text 6"/>
          <p:cNvSpPr txBox="1"/>
          <p:nvPr/>
        </p:nvSpPr>
        <p:spPr>
          <a:xfrm>
            <a:off x="4069080" y="2670048"/>
            <a:ext cx="3840480" cy="566928"/>
          </a:xfrm>
          <a:prstGeom prst="rect">
            <a:avLst/>
          </a:prstGeom>
          <a:noFill/>
          <a:ln/>
        </p:spPr>
        <p:txBody>
          <a:bodyPr wrap="square" lIns="0" tIns="0" rIns="0" bIns="0" rtlCol="0" anchor="t"/>
          <a:lstStyle/>
          <a:p>
            <a:pPr indent="0" marL="0">
              <a:buNone/>
            </a:pPr>
            <a:r>
              <a:rPr lang="en-US" sz="1300" dirty="0">
                <a:solidFill>
                  <a:schemeClr val="accent5"/>
                </a:solidFill>
              </a:rPr>
              <a:t>91.1% of notes are listed under 2 or more labels</a:t>
            </a:r>
            <a:endParaRPr lang="en-US" sz="1300" dirty="0"/>
          </a:p>
        </p:txBody>
      </p:sp>
      <p:sp>
        <p:nvSpPr>
          <p:cNvPr id="9" name="funnel-bar"/>
          <p:cNvSpPr/>
          <p:nvPr/>
        </p:nvSpPr>
        <p:spPr>
          <a:xfrm>
            <a:off x="548640" y="3291840"/>
            <a:ext cx="1260368" cy="566928"/>
          </a:xfrm>
          <a:prstGeom prst="roundRect">
            <a:avLst>
              <a:gd name="adj" fmla="val 12903"/>
            </a:avLst>
          </a:prstGeom>
          <a:solidFill>
            <a:schemeClr val="accent4">
              <a:alpha val="60000"/>
            </a:schemeClr>
          </a:solidFill>
          <a:ln w="12700">
            <a:solidFill>
              <a:schemeClr val="accent4"/>
            </a:solidFill>
            <a:prstDash val="solid"/>
          </a:ln>
        </p:spPr>
      </p:sp>
      <p:sp>
        <p:nvSpPr>
          <p:cNvPr id="10" name="Text 8"/>
          <p:cNvSpPr txBox="1"/>
          <p:nvPr/>
        </p:nvSpPr>
        <p:spPr>
          <a:xfrm>
            <a:off x="4069080" y="3273552"/>
            <a:ext cx="3840480" cy="320040"/>
          </a:xfrm>
          <a:prstGeom prst="rect">
            <a:avLst/>
          </a:prstGeom>
          <a:noFill/>
          <a:ln/>
        </p:spPr>
        <p:txBody>
          <a:bodyPr wrap="square" lIns="0" tIns="0" rIns="0" bIns="0" rtlCol="0" anchor="t"/>
          <a:lstStyle/>
          <a:p>
            <a:pPr indent="0" marL="0">
              <a:buNone/>
            </a:pPr>
            <a:r>
              <a:rPr lang="en-US" sz="1600" b="1" dirty="0">
                <a:solidFill>
                  <a:schemeClr val="tx2"/>
                </a:solidFill>
              </a:rPr>
              <a:t>1,914 one-department notes</a:t>
            </a:r>
            <a:endParaRPr lang="en-US" sz="1600" dirty="0"/>
          </a:p>
        </p:txBody>
      </p:sp>
      <p:sp>
        <p:nvSpPr>
          <p:cNvPr id="11" name="Text 9"/>
          <p:cNvSpPr txBox="1"/>
          <p:nvPr/>
        </p:nvSpPr>
        <p:spPr>
          <a:xfrm>
            <a:off x="4069080" y="3584448"/>
            <a:ext cx="3840480" cy="566928"/>
          </a:xfrm>
          <a:prstGeom prst="rect">
            <a:avLst/>
          </a:prstGeom>
          <a:noFill/>
          <a:ln/>
        </p:spPr>
        <p:txBody>
          <a:bodyPr wrap="square" lIns="0" tIns="0" rIns="0" bIns="0" rtlCol="0" anchor="t"/>
          <a:lstStyle/>
          <a:p>
            <a:pPr indent="0" marL="0">
              <a:buNone/>
            </a:pPr>
            <a:r>
              <a:rPr lang="en-US" sz="1300" dirty="0">
                <a:solidFill>
                  <a:schemeClr val="accent5"/>
                </a:solidFill>
              </a:rPr>
              <a:t>removed: 367 with two specialties, 34 format-only, 30 too short, 12 near-copies</a:t>
            </a:r>
            <a:endParaRPr lang="en-US" sz="1300" dirty="0"/>
          </a:p>
        </p:txBody>
      </p:sp>
      <p:sp>
        <p:nvSpPr>
          <p:cNvPr id="12" name="funnel-bar"/>
          <p:cNvSpPr/>
          <p:nvPr/>
        </p:nvSpPr>
        <p:spPr>
          <a:xfrm>
            <a:off x="548640" y="4206240"/>
            <a:ext cx="956800" cy="566928"/>
          </a:xfrm>
          <a:prstGeom prst="roundRect">
            <a:avLst>
              <a:gd name="adj" fmla="val 12903"/>
            </a:avLst>
          </a:prstGeom>
          <a:solidFill>
            <a:schemeClr val="accent1"/>
          </a:solidFill>
          <a:ln w="12700">
            <a:solidFill>
              <a:schemeClr val="accent4"/>
            </a:solidFill>
            <a:prstDash val="solid"/>
          </a:ln>
        </p:spPr>
      </p:sp>
      <p:sp>
        <p:nvSpPr>
          <p:cNvPr id="13" name="Text 11"/>
          <p:cNvSpPr txBox="1"/>
          <p:nvPr/>
        </p:nvSpPr>
        <p:spPr>
          <a:xfrm>
            <a:off x="4069080" y="4187952"/>
            <a:ext cx="3840480" cy="320040"/>
          </a:xfrm>
          <a:prstGeom prst="rect">
            <a:avLst/>
          </a:prstGeom>
          <a:noFill/>
          <a:ln/>
        </p:spPr>
        <p:txBody>
          <a:bodyPr wrap="square" lIns="0" tIns="0" rIns="0" bIns="0" rtlCol="0" anchor="t"/>
          <a:lstStyle/>
          <a:p>
            <a:pPr indent="0" marL="0">
              <a:buNone/>
            </a:pPr>
            <a:r>
              <a:rPr lang="en-US" sz="1600" b="1" dirty="0">
                <a:solidFill>
                  <a:schemeClr val="tx2"/>
                </a:solidFill>
              </a:rPr>
              <a:t>1,453 notes, 9 departments</a:t>
            </a:r>
            <a:endParaRPr lang="en-US" sz="1600" dirty="0"/>
          </a:p>
        </p:txBody>
      </p:sp>
      <p:sp>
        <p:nvSpPr>
          <p:cNvPr id="14" name="Text 12"/>
          <p:cNvSpPr txBox="1"/>
          <p:nvPr/>
        </p:nvSpPr>
        <p:spPr>
          <a:xfrm>
            <a:off x="4069080" y="4498848"/>
            <a:ext cx="3840480" cy="566928"/>
          </a:xfrm>
          <a:prstGeom prst="rect">
            <a:avLst/>
          </a:prstGeom>
          <a:noFill/>
          <a:ln/>
        </p:spPr>
        <p:txBody>
          <a:bodyPr wrap="square" lIns="0" tIns="0" rIns="0" bIns="0" rtlCol="0" anchor="t"/>
          <a:lstStyle/>
          <a:p>
            <a:pPr indent="0" marL="0">
              <a:buNone/>
            </a:pPr>
            <a:r>
              <a:rPr lang="en-US" sz="1300" dirty="0">
                <a:solidFill>
                  <a:schemeClr val="accent5"/>
                </a:solidFill>
              </a:rPr>
              <a:t>each department has at least 75 notes</a:t>
            </a:r>
            <a:endParaRPr lang="en-US" sz="1300" dirty="0"/>
          </a:p>
        </p:txBody>
      </p:sp>
      <p:sp>
        <p:nvSpPr>
          <p:cNvPr id="15" name="Text 13"/>
          <p:cNvSpPr txBox="1"/>
          <p:nvPr/>
        </p:nvSpPr>
        <p:spPr>
          <a:xfrm>
            <a:off x="548640" y="5257800"/>
            <a:ext cx="6949440" cy="640080"/>
          </a:xfrm>
          <a:prstGeom prst="rect">
            <a:avLst/>
          </a:prstGeom>
          <a:noFill/>
          <a:ln/>
        </p:spPr>
        <p:txBody>
          <a:bodyPr wrap="square" lIns="0" tIns="0" rIns="0" bIns="0" rtlCol="0" anchor="t"/>
          <a:lstStyle/>
          <a:p>
            <a:pPr indent="0" marL="0">
              <a:buNone/>
            </a:pPr>
            <a:r>
              <a:rPr lang="en-US" sz="1600" b="1" dirty="0">
                <a:solidFill>
                  <a:schemeClr val="tx2"/>
                </a:solidFill>
              </a:rPr>
              <a:t>One split, made once (seed 6700): train 871 · validation 291 · test 291. The smallest department has 15 test notes.</a:t>
            </a:r>
            <a:endParaRPr lang="en-US" sz="1600" dirty="0"/>
          </a:p>
        </p:txBody>
      </p:sp>
      <p:sp>
        <p:nvSpPr>
          <p:cNvPr id="16" name="leak"/>
          <p:cNvSpPr/>
          <p:nvPr/>
        </p:nvSpPr>
        <p:spPr>
          <a:xfrm>
            <a:off x="8138160" y="1417320"/>
            <a:ext cx="3474720" cy="4480560"/>
          </a:xfrm>
          <a:prstGeom prst="roundRect">
            <a:avLst>
              <a:gd name="adj" fmla="val 3158"/>
            </a:avLst>
          </a:prstGeom>
          <a:solidFill>
            <a:schemeClr val="bg2"/>
          </a:solidFill>
          <a:ln w="12700">
            <a:solidFill>
              <a:schemeClr val="bg2"/>
            </a:solidFill>
            <a:prstDash val="solid"/>
          </a:ln>
        </p:spPr>
      </p:sp>
      <p:sp>
        <p:nvSpPr>
          <p:cNvPr id="17" name="icon-circle"/>
          <p:cNvSpPr/>
          <p:nvPr/>
        </p:nvSpPr>
        <p:spPr>
          <a:xfrm>
            <a:off x="8412480" y="1691640"/>
            <a:ext cx="566928" cy="566928"/>
          </a:xfrm>
          <a:prstGeom prst="ellipse">
            <a:avLst/>
          </a:prstGeom>
          <a:solidFill>
            <a:schemeClr val="accent2"/>
          </a:solidFill>
          <a:ln w="12700">
            <a:solidFill>
              <a:schemeClr val="accent2"/>
            </a:solidFill>
            <a:prstDash val="solid"/>
          </a:ln>
        </p:spPr>
      </p:sp>
      <p:pic>
        <p:nvPicPr>
          <p:cNvPr id="18" name="icon" descr="preencoded.png">    </p:cNvPr>
          <p:cNvPicPr>
            <a:picLocks noChangeAspect="1"/>
          </p:cNvPicPr>
          <p:nvPr/>
        </p:nvPicPr>
        <p:blipFill>
          <a:blip r:embed="rId1"/>
          <a:stretch>
            <a:fillRect/>
          </a:stretch>
        </p:blipFill>
        <p:spPr>
          <a:xfrm>
            <a:off x="8525866" y="1805026"/>
            <a:ext cx="340157" cy="340157"/>
          </a:xfrm>
          <a:prstGeom prst="rect">
            <a:avLst/>
          </a:prstGeom>
        </p:spPr>
      </p:pic>
      <p:sp>
        <p:nvSpPr>
          <p:cNvPr id="19" name="Text 16"/>
          <p:cNvSpPr txBox="1"/>
          <p:nvPr/>
        </p:nvSpPr>
        <p:spPr>
          <a:xfrm>
            <a:off x="8412480" y="2423160"/>
            <a:ext cx="3017520" cy="365760"/>
          </a:xfrm>
          <a:prstGeom prst="rect">
            <a:avLst/>
          </a:prstGeom>
          <a:noFill/>
          <a:ln/>
        </p:spPr>
        <p:txBody>
          <a:bodyPr wrap="square" lIns="0" tIns="0" rIns="0" bIns="0" rtlCol="0" anchor="t"/>
          <a:lstStyle/>
          <a:p>
            <a:pPr indent="0" marL="0">
              <a:buNone/>
            </a:pPr>
            <a:r>
              <a:rPr lang="en-US" sz="1800" b="1" dirty="0">
                <a:solidFill>
                  <a:schemeClr val="tx2"/>
                </a:solidFill>
              </a:rPr>
              <a:t>Two traps we avoided</a:t>
            </a:r>
            <a:endParaRPr lang="en-US" sz="1800" dirty="0"/>
          </a:p>
        </p:txBody>
      </p:sp>
      <p:sp>
        <p:nvSpPr>
          <p:cNvPr id="20" name="Text 17"/>
          <p:cNvSpPr txBox="1"/>
          <p:nvPr/>
        </p:nvSpPr>
        <p:spPr>
          <a:xfrm>
            <a:off x="8412480" y="2880360"/>
            <a:ext cx="301752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keywords column starts with the answer in 97.9% of rows, so the models read only the note text.</a:t>
            </a:r>
            <a:endParaRPr lang="en-US" sz="1500" dirty="0"/>
          </a:p>
          <a:p>
            <a:pPr marL="342900" indent="-342900">
              <a:buSzPct val="100000"/>
              <a:buChar char="•"/>
            </a:pPr>
            <a:r>
              <a:rPr lang="en-US" sz="1500" dirty="0">
                <a:solidFill>
                  <a:schemeClr val="tx1"/>
                </a:solidFill>
              </a:rPr>
              <a:t>The same note under two labels would sit in training and in test, so we deduplicated before splitting.</a:t>
            </a:r>
            <a:endParaRPr lang="en-US" sz="1500" dirty="0"/>
          </a:p>
        </p:txBody>
      </p:sp>
      <p:sp>
        <p:nvSpPr>
          <p:cNvPr id="21"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Mevin Ramjeet</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 simple baseline already routes 92% right</a:t>
            </a:r>
            <a:endParaRPr lang="en-US" sz="3400" dirty="0"/>
          </a:p>
        </p:txBody>
      </p:sp>
      <p:sp>
        <p:nvSpPr>
          <p:cNvPr id="3" name="pipe-step"/>
          <p:cNvSpPr/>
          <p:nvPr/>
        </p:nvSpPr>
        <p:spPr>
          <a:xfrm>
            <a:off x="548640" y="1463040"/>
            <a:ext cx="1874520" cy="1005840"/>
          </a:xfrm>
          <a:prstGeom prst="roundRect">
            <a:avLst>
              <a:gd name="adj" fmla="val 10909"/>
            </a:avLst>
          </a:prstGeom>
          <a:solidFill>
            <a:schemeClr val="bg2"/>
          </a:solidFill>
          <a:ln w="12700">
            <a:solidFill>
              <a:schemeClr val="bg2"/>
            </a:solidFill>
            <a:prstDash val="solid"/>
          </a:ln>
        </p:spPr>
      </p:sp>
      <p:sp>
        <p:nvSpPr>
          <p:cNvPr id="4" name="Text 2"/>
          <p:cNvSpPr txBox="1"/>
          <p:nvPr/>
        </p:nvSpPr>
        <p:spPr>
          <a:xfrm>
            <a:off x="640080" y="1463040"/>
            <a:ext cx="1691640" cy="1005840"/>
          </a:xfrm>
          <a:prstGeom prst="rect">
            <a:avLst/>
          </a:prstGeom>
          <a:noFill/>
          <a:ln/>
        </p:spPr>
        <p:txBody>
          <a:bodyPr wrap="square" lIns="0" tIns="0" rIns="0" bIns="0" rtlCol="0" anchor="ctr"/>
          <a:lstStyle/>
          <a:p>
            <a:pPr algn="ctr" indent="0" marL="0">
              <a:buNone/>
            </a:pPr>
            <a:r>
              <a:rPr lang="en-US" sz="1500" b="1" dirty="0">
                <a:solidFill>
                  <a:schemeClr val="tx2"/>
                </a:solidFill>
              </a:rPr>
              <a:t>Repair the scrape's format</a:t>
            </a:r>
            <a:endParaRPr lang="en-US" sz="1500" dirty="0"/>
          </a:p>
        </p:txBody>
      </p:sp>
      <p:sp>
        <p:nvSpPr>
          <p:cNvPr id="5" name="arrow"/>
          <p:cNvSpPr/>
          <p:nvPr/>
        </p:nvSpPr>
        <p:spPr>
          <a:xfrm>
            <a:off x="2450592" y="1819656"/>
            <a:ext cx="329184" cy="292608"/>
          </a:xfrm>
          <a:prstGeom prst="rightArrow">
            <a:avLst/>
          </a:prstGeom>
          <a:solidFill>
            <a:schemeClr val="accent5"/>
          </a:solidFill>
          <a:ln w="12700">
            <a:solidFill>
              <a:schemeClr val="accent5"/>
            </a:solidFill>
            <a:prstDash val="solid"/>
          </a:ln>
        </p:spPr>
      </p:sp>
      <p:sp>
        <p:nvSpPr>
          <p:cNvPr id="6" name="pipe-step"/>
          <p:cNvSpPr/>
          <p:nvPr/>
        </p:nvSpPr>
        <p:spPr>
          <a:xfrm>
            <a:off x="2816352" y="1463040"/>
            <a:ext cx="1874520" cy="1005840"/>
          </a:xfrm>
          <a:prstGeom prst="roundRect">
            <a:avLst>
              <a:gd name="adj" fmla="val 10909"/>
            </a:avLst>
          </a:prstGeom>
          <a:solidFill>
            <a:schemeClr val="bg2"/>
          </a:solidFill>
          <a:ln w="12700">
            <a:solidFill>
              <a:schemeClr val="bg2"/>
            </a:solidFill>
            <a:prstDash val="solid"/>
          </a:ln>
        </p:spPr>
      </p:sp>
      <p:sp>
        <p:nvSpPr>
          <p:cNvPr id="7" name="Text 5"/>
          <p:cNvSpPr txBox="1"/>
          <p:nvPr/>
        </p:nvSpPr>
        <p:spPr>
          <a:xfrm>
            <a:off x="2907792" y="1463040"/>
            <a:ext cx="1691640" cy="1005840"/>
          </a:xfrm>
          <a:prstGeom prst="rect">
            <a:avLst/>
          </a:prstGeom>
          <a:noFill/>
          <a:ln/>
        </p:spPr>
        <p:txBody>
          <a:bodyPr wrap="square" lIns="0" tIns="0" rIns="0" bIns="0" rtlCol="0" anchor="ctr"/>
          <a:lstStyle/>
          <a:p>
            <a:pPr algn="ctr" indent="0" marL="0">
              <a:buNone/>
            </a:pPr>
            <a:r>
              <a:rPr lang="en-US" sz="1500" b="1" dirty="0">
                <a:solidFill>
                  <a:schemeClr val="tx2"/>
                </a:solidFill>
              </a:rPr>
              <a:t>Lower case, words only</a:t>
            </a:r>
            <a:endParaRPr lang="en-US" sz="1500" dirty="0"/>
          </a:p>
        </p:txBody>
      </p:sp>
      <p:sp>
        <p:nvSpPr>
          <p:cNvPr id="8" name="arrow"/>
          <p:cNvSpPr/>
          <p:nvPr/>
        </p:nvSpPr>
        <p:spPr>
          <a:xfrm>
            <a:off x="4718304" y="1819656"/>
            <a:ext cx="329184" cy="292608"/>
          </a:xfrm>
          <a:prstGeom prst="rightArrow">
            <a:avLst/>
          </a:prstGeom>
          <a:solidFill>
            <a:schemeClr val="accent5"/>
          </a:solidFill>
          <a:ln w="12700">
            <a:solidFill>
              <a:schemeClr val="accent5"/>
            </a:solidFill>
            <a:prstDash val="solid"/>
          </a:ln>
        </p:spPr>
      </p:sp>
      <p:sp>
        <p:nvSpPr>
          <p:cNvPr id="9" name="pipe-step"/>
          <p:cNvSpPr/>
          <p:nvPr/>
        </p:nvSpPr>
        <p:spPr>
          <a:xfrm>
            <a:off x="5084064" y="1463040"/>
            <a:ext cx="1874520" cy="1005840"/>
          </a:xfrm>
          <a:prstGeom prst="roundRect">
            <a:avLst>
              <a:gd name="adj" fmla="val 10909"/>
            </a:avLst>
          </a:prstGeom>
          <a:solidFill>
            <a:schemeClr val="bg2"/>
          </a:solidFill>
          <a:ln w="12700">
            <a:solidFill>
              <a:schemeClr val="bg2"/>
            </a:solidFill>
            <a:prstDash val="solid"/>
          </a:ln>
        </p:spPr>
      </p:sp>
      <p:sp>
        <p:nvSpPr>
          <p:cNvPr id="10" name="Text 8"/>
          <p:cNvSpPr txBox="1"/>
          <p:nvPr/>
        </p:nvSpPr>
        <p:spPr>
          <a:xfrm>
            <a:off x="5175504" y="1463040"/>
            <a:ext cx="1691640" cy="1005840"/>
          </a:xfrm>
          <a:prstGeom prst="rect">
            <a:avLst/>
          </a:prstGeom>
          <a:noFill/>
          <a:ln/>
        </p:spPr>
        <p:txBody>
          <a:bodyPr wrap="square" lIns="0" tIns="0" rIns="0" bIns="0" rtlCol="0" anchor="ctr"/>
          <a:lstStyle/>
          <a:p>
            <a:pPr algn="ctr" indent="0" marL="0">
              <a:buNone/>
            </a:pPr>
            <a:r>
              <a:rPr lang="en-US" sz="1500" b="1" dirty="0">
                <a:solidFill>
                  <a:schemeClr val="tx2"/>
                </a:solidFill>
              </a:rPr>
              <a:t>Remove stop words</a:t>
            </a:r>
            <a:endParaRPr lang="en-US" sz="1500" dirty="0"/>
          </a:p>
        </p:txBody>
      </p:sp>
      <p:sp>
        <p:nvSpPr>
          <p:cNvPr id="11" name="arrow"/>
          <p:cNvSpPr/>
          <p:nvPr/>
        </p:nvSpPr>
        <p:spPr>
          <a:xfrm>
            <a:off x="6986016" y="1819656"/>
            <a:ext cx="329184" cy="292608"/>
          </a:xfrm>
          <a:prstGeom prst="rightArrow">
            <a:avLst/>
          </a:prstGeom>
          <a:solidFill>
            <a:schemeClr val="accent5"/>
          </a:solidFill>
          <a:ln w="12700">
            <a:solidFill>
              <a:schemeClr val="accent5"/>
            </a:solidFill>
            <a:prstDash val="solid"/>
          </a:ln>
        </p:spPr>
      </p:sp>
      <p:sp>
        <p:nvSpPr>
          <p:cNvPr id="12" name="pipe-step"/>
          <p:cNvSpPr/>
          <p:nvPr/>
        </p:nvSpPr>
        <p:spPr>
          <a:xfrm>
            <a:off x="7351776" y="1463040"/>
            <a:ext cx="1874520" cy="1005840"/>
          </a:xfrm>
          <a:prstGeom prst="roundRect">
            <a:avLst>
              <a:gd name="adj" fmla="val 10909"/>
            </a:avLst>
          </a:prstGeom>
          <a:solidFill>
            <a:schemeClr val="bg2"/>
          </a:solidFill>
          <a:ln w="12700">
            <a:solidFill>
              <a:schemeClr val="bg2"/>
            </a:solidFill>
            <a:prstDash val="solid"/>
          </a:ln>
        </p:spPr>
      </p:sp>
      <p:sp>
        <p:nvSpPr>
          <p:cNvPr id="13" name="Text 11"/>
          <p:cNvSpPr txBox="1"/>
          <p:nvPr/>
        </p:nvSpPr>
        <p:spPr>
          <a:xfrm>
            <a:off x="7443216" y="1463040"/>
            <a:ext cx="1691640" cy="1005840"/>
          </a:xfrm>
          <a:prstGeom prst="rect">
            <a:avLst/>
          </a:prstGeom>
          <a:noFill/>
          <a:ln/>
        </p:spPr>
        <p:txBody>
          <a:bodyPr wrap="square" lIns="0" tIns="0" rIns="0" bIns="0" rtlCol="0" anchor="ctr"/>
          <a:lstStyle/>
          <a:p>
            <a:pPr algn="ctr" indent="0" marL="0">
              <a:buNone/>
            </a:pPr>
            <a:r>
              <a:rPr lang="en-US" sz="1500" b="1" dirty="0">
                <a:solidFill>
                  <a:schemeClr val="tx2"/>
                </a:solidFill>
              </a:rPr>
              <a:t>TF-IDF: 8,189 words</a:t>
            </a:r>
            <a:endParaRPr lang="en-US" sz="1500" dirty="0"/>
          </a:p>
        </p:txBody>
      </p:sp>
      <p:sp>
        <p:nvSpPr>
          <p:cNvPr id="14" name="arrow"/>
          <p:cNvSpPr/>
          <p:nvPr/>
        </p:nvSpPr>
        <p:spPr>
          <a:xfrm>
            <a:off x="9253728" y="1819656"/>
            <a:ext cx="329184" cy="292608"/>
          </a:xfrm>
          <a:prstGeom prst="rightArrow">
            <a:avLst/>
          </a:prstGeom>
          <a:solidFill>
            <a:schemeClr val="accent5"/>
          </a:solidFill>
          <a:ln w="12700">
            <a:solidFill>
              <a:schemeClr val="accent5"/>
            </a:solidFill>
            <a:prstDash val="solid"/>
          </a:ln>
        </p:spPr>
      </p:sp>
      <p:sp>
        <p:nvSpPr>
          <p:cNvPr id="15" name="pipe-step"/>
          <p:cNvSpPr/>
          <p:nvPr/>
        </p:nvSpPr>
        <p:spPr>
          <a:xfrm>
            <a:off x="9619488" y="1463040"/>
            <a:ext cx="1874520" cy="1005840"/>
          </a:xfrm>
          <a:prstGeom prst="roundRect">
            <a:avLst>
              <a:gd name="adj" fmla="val 10909"/>
            </a:avLst>
          </a:prstGeom>
          <a:solidFill>
            <a:schemeClr val="accent1"/>
          </a:solidFill>
          <a:ln w="12700">
            <a:solidFill>
              <a:schemeClr val="accent1"/>
            </a:solidFill>
            <a:prstDash val="solid"/>
          </a:ln>
        </p:spPr>
      </p:sp>
      <p:sp>
        <p:nvSpPr>
          <p:cNvPr id="16" name="Text 14"/>
          <p:cNvSpPr txBox="1"/>
          <p:nvPr/>
        </p:nvSpPr>
        <p:spPr>
          <a:xfrm>
            <a:off x="9710928" y="1463040"/>
            <a:ext cx="1691640" cy="1005840"/>
          </a:xfrm>
          <a:prstGeom prst="rect">
            <a:avLst/>
          </a:prstGeom>
          <a:noFill/>
          <a:ln/>
        </p:spPr>
        <p:txBody>
          <a:bodyPr wrap="square" lIns="0" tIns="0" rIns="0" bIns="0" rtlCol="0" anchor="ctr"/>
          <a:lstStyle/>
          <a:p>
            <a:pPr algn="ctr" indent="0" marL="0">
              <a:buNone/>
            </a:pPr>
            <a:r>
              <a:rPr lang="en-US" sz="1500" b="1" dirty="0">
                <a:solidFill>
                  <a:schemeClr val="bg1"/>
                </a:solidFill>
              </a:rPr>
              <a:t>Logistic regression</a:t>
            </a:r>
            <a:endParaRPr lang="en-US" sz="1500" dirty="0"/>
          </a:p>
        </p:txBody>
      </p:sp>
      <p:sp>
        <p:nvSpPr>
          <p:cNvPr id="17" name="Text 15"/>
          <p:cNvSpPr txBox="1"/>
          <p:nvPr/>
        </p:nvSpPr>
        <p:spPr>
          <a:xfrm>
            <a:off x="9619488" y="2560320"/>
            <a:ext cx="2011680" cy="640080"/>
          </a:xfrm>
          <a:prstGeom prst="rect">
            <a:avLst/>
          </a:prstGeom>
          <a:noFill/>
          <a:ln/>
        </p:spPr>
        <p:txBody>
          <a:bodyPr wrap="square" lIns="0" tIns="0" rIns="0" bIns="0" rtlCol="0" anchor="t"/>
          <a:lstStyle/>
          <a:p>
            <a:pPr indent="0" marL="0">
              <a:buNone/>
            </a:pPr>
            <a:r>
              <a:rPr lang="en-US" sz="1200" dirty="0">
                <a:solidFill>
                  <a:schemeClr val="accent5"/>
                </a:solidFill>
              </a:rPr>
              <a:t>C = 100, balanced class weights, chosen on validation</a:t>
            </a:r>
            <a:endParaRPr lang="en-US" sz="1200" dirty="0"/>
          </a:p>
        </p:txBody>
      </p:sp>
      <p:sp>
        <p:nvSpPr>
          <p:cNvPr id="18" name="Text 16"/>
          <p:cNvSpPr txBox="1"/>
          <p:nvPr/>
        </p:nvSpPr>
        <p:spPr>
          <a:xfrm>
            <a:off x="548640" y="3429000"/>
            <a:ext cx="219456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0.924</a:t>
            </a:r>
            <a:endParaRPr lang="en-US" sz="4400" dirty="0"/>
          </a:p>
        </p:txBody>
      </p:sp>
      <p:sp>
        <p:nvSpPr>
          <p:cNvPr id="19" name="Text 17"/>
          <p:cNvSpPr txBox="1"/>
          <p:nvPr/>
        </p:nvSpPr>
        <p:spPr>
          <a:xfrm>
            <a:off x="548640" y="4251960"/>
            <a:ext cx="2103120" cy="640080"/>
          </a:xfrm>
          <a:prstGeom prst="rect">
            <a:avLst/>
          </a:prstGeom>
          <a:noFill/>
          <a:ln/>
        </p:spPr>
        <p:txBody>
          <a:bodyPr wrap="square" lIns="0" tIns="0" rIns="0" bIns="0" rtlCol="0" anchor="t"/>
          <a:lstStyle/>
          <a:p>
            <a:pPr indent="0" marL="0">
              <a:buNone/>
            </a:pPr>
            <a:r>
              <a:rPr lang="en-US" sz="1400" dirty="0">
                <a:solidFill>
                  <a:schemeClr val="tx1"/>
                </a:solidFill>
              </a:rPr>
              <a:t>macro F1 on 291 test notes</a:t>
            </a:r>
            <a:endParaRPr lang="en-US" sz="1400" dirty="0"/>
          </a:p>
        </p:txBody>
      </p:sp>
      <p:sp>
        <p:nvSpPr>
          <p:cNvPr id="20" name="Text 18"/>
          <p:cNvSpPr txBox="1"/>
          <p:nvPr/>
        </p:nvSpPr>
        <p:spPr>
          <a:xfrm>
            <a:off x="2926080" y="3429000"/>
            <a:ext cx="219456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&lt; 1 s</a:t>
            </a:r>
            <a:endParaRPr lang="en-US" sz="4400" dirty="0"/>
          </a:p>
        </p:txBody>
      </p:sp>
      <p:sp>
        <p:nvSpPr>
          <p:cNvPr id="21" name="Text 19"/>
          <p:cNvSpPr txBox="1"/>
          <p:nvPr/>
        </p:nvSpPr>
        <p:spPr>
          <a:xfrm>
            <a:off x="2926080" y="4251960"/>
            <a:ext cx="2103120" cy="640080"/>
          </a:xfrm>
          <a:prstGeom prst="rect">
            <a:avLst/>
          </a:prstGeom>
          <a:noFill/>
          <a:ln/>
        </p:spPr>
        <p:txBody>
          <a:bodyPr wrap="square" lIns="0" tIns="0" rIns="0" bIns="0" rtlCol="0" anchor="t"/>
          <a:lstStyle/>
          <a:p>
            <a:pPr indent="0" marL="0">
              <a:buNone/>
            </a:pPr>
            <a:r>
              <a:rPr lang="en-US" sz="1400" dirty="0">
                <a:solidFill>
                  <a:schemeClr val="tx1"/>
                </a:solidFill>
              </a:rPr>
              <a:t>to train, on a laptop CPU</a:t>
            </a:r>
            <a:endParaRPr lang="en-US" sz="1400" dirty="0"/>
          </a:p>
        </p:txBody>
      </p:sp>
      <p:sp>
        <p:nvSpPr>
          <p:cNvPr id="22" name="Text 20"/>
          <p:cNvSpPr txBox="1"/>
          <p:nvPr/>
        </p:nvSpPr>
        <p:spPr>
          <a:xfrm>
            <a:off x="5303520" y="3429000"/>
            <a:ext cx="219456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0.5 ms</a:t>
            </a:r>
            <a:endParaRPr lang="en-US" sz="4400" dirty="0"/>
          </a:p>
        </p:txBody>
      </p:sp>
      <p:sp>
        <p:nvSpPr>
          <p:cNvPr id="23" name="Text 21"/>
          <p:cNvSpPr txBox="1"/>
          <p:nvPr/>
        </p:nvSpPr>
        <p:spPr>
          <a:xfrm>
            <a:off x="5303520" y="4251960"/>
            <a:ext cx="2103120" cy="640080"/>
          </a:xfrm>
          <a:prstGeom prst="rect">
            <a:avLst/>
          </a:prstGeom>
          <a:noFill/>
          <a:ln/>
        </p:spPr>
        <p:txBody>
          <a:bodyPr wrap="square" lIns="0" tIns="0" rIns="0" bIns="0" rtlCol="0" anchor="t"/>
          <a:lstStyle/>
          <a:p>
            <a:pPr indent="0" marL="0">
              <a:buNone/>
            </a:pPr>
            <a:r>
              <a:rPr lang="en-US" sz="1400" dirty="0">
                <a:solidFill>
                  <a:schemeClr val="tx1"/>
                </a:solidFill>
              </a:rPr>
              <a:t>per note, on a CPU</a:t>
            </a:r>
            <a:endParaRPr lang="en-US" sz="1400" dirty="0"/>
          </a:p>
        </p:txBody>
      </p:sp>
      <p:sp>
        <p:nvSpPr>
          <p:cNvPr id="24" name="rejected"/>
          <p:cNvSpPr/>
          <p:nvPr/>
        </p:nvSpPr>
        <p:spPr>
          <a:xfrm>
            <a:off x="7772400" y="3291840"/>
            <a:ext cx="3840480" cy="2606040"/>
          </a:xfrm>
          <a:prstGeom prst="roundRect">
            <a:avLst>
              <a:gd name="adj" fmla="val 4211"/>
            </a:avLst>
          </a:prstGeom>
          <a:solidFill>
            <a:schemeClr val="bg2"/>
          </a:solidFill>
          <a:ln w="12700">
            <a:solidFill>
              <a:schemeClr val="bg2"/>
            </a:solidFill>
            <a:prstDash val="solid"/>
          </a:ln>
        </p:spPr>
      </p:sp>
      <p:sp>
        <p:nvSpPr>
          <p:cNvPr id="25" name="Text 23"/>
          <p:cNvSpPr txBox="1"/>
          <p:nvPr/>
        </p:nvSpPr>
        <p:spPr>
          <a:xfrm>
            <a:off x="8046720" y="3474720"/>
            <a:ext cx="3383280" cy="365760"/>
          </a:xfrm>
          <a:prstGeom prst="rect">
            <a:avLst/>
          </a:prstGeom>
          <a:noFill/>
          <a:ln/>
        </p:spPr>
        <p:txBody>
          <a:bodyPr wrap="square" lIns="0" tIns="0" rIns="0" bIns="0" rtlCol="0" anchor="t"/>
          <a:lstStyle/>
          <a:p>
            <a:pPr indent="0" marL="0">
              <a:buNone/>
            </a:pPr>
            <a:r>
              <a:rPr lang="en-US" sz="1600" b="1" dirty="0">
                <a:solidFill>
                  <a:schemeClr val="tx2"/>
                </a:solidFill>
              </a:rPr>
              <a:t>Tested and rejected, on validation</a:t>
            </a:r>
            <a:endParaRPr lang="en-US" sz="1600" dirty="0"/>
          </a:p>
        </p:txBody>
      </p:sp>
      <p:sp>
        <p:nvSpPr>
          <p:cNvPr id="26" name="Text 24"/>
          <p:cNvSpPr txBox="1"/>
          <p:nvPr/>
        </p:nvSpPr>
        <p:spPr>
          <a:xfrm>
            <a:off x="8046720" y="3931920"/>
            <a:ext cx="33832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Negation markers ("denies chest pain"): 0.890 against 0.893 without</a:t>
            </a:r>
            <a:endParaRPr lang="en-US" sz="1400" dirty="0"/>
          </a:p>
          <a:p>
            <a:pPr marL="342900" indent="-342900">
              <a:buSzPct val="100000"/>
              <a:buChar char="•"/>
            </a:pPr>
            <a:r>
              <a:rPr lang="en-US" sz="1400" dirty="0">
                <a:solidFill>
                  <a:schemeClr val="tx1"/>
                </a:solidFill>
              </a:rPr>
              <a:t>Word pairs: 0.884 at best, 30,000+ features from 871 notes</a:t>
            </a:r>
            <a:endParaRPr lang="en-US" sz="1400" dirty="0"/>
          </a:p>
        </p:txBody>
      </p:sp>
      <p:sp>
        <p:nvSpPr>
          <p:cNvPr id="27" name="Text 25"/>
          <p:cNvSpPr txBox="1"/>
          <p:nvPr/>
        </p:nvSpPr>
        <p:spPr>
          <a:xfrm>
            <a:off x="548640" y="5166360"/>
            <a:ext cx="6949440" cy="731520"/>
          </a:xfrm>
          <a:prstGeom prst="rect">
            <a:avLst/>
          </a:prstGeom>
          <a:noFill/>
          <a:ln/>
        </p:spPr>
        <p:txBody>
          <a:bodyPr wrap="square" lIns="0" tIns="0" rIns="0" bIns="0" rtlCol="0" anchor="t"/>
          <a:lstStyle/>
          <a:p>
            <a:pPr indent="0" marL="0">
              <a:buNone/>
            </a:pPr>
            <a:r>
              <a:rPr lang="en-US" sz="1400" i="1" dirty="0">
                <a:solidFill>
                  <a:schemeClr val="tx2"/>
                </a:solidFill>
              </a:rPr>
              <a:t>It learned each department's anatomy: Urology → bladder, prostate, cystoscopy · Ophthalmology → eye, lens, cataract</a:t>
            </a:r>
            <a:endParaRPr lang="en-US" sz="1400" dirty="0"/>
          </a:p>
        </p:txBody>
      </p:sp>
      <p:sp>
        <p:nvSpPr>
          <p:cNvPr id="28"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Mevin Ramjeet</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PubMedBERT reads the note in context</a:t>
            </a:r>
            <a:endParaRPr lang="en-US" sz="3400" dirty="0"/>
          </a:p>
        </p:txBody>
      </p:sp>
      <p:sp>
        <p:nvSpPr>
          <p:cNvPr id="3" name="Text 1"/>
          <p:cNvSpPr txBox="1"/>
          <p:nvPr/>
        </p:nvSpPr>
        <p:spPr>
          <a:xfrm>
            <a:off x="548640" y="1417320"/>
            <a:ext cx="10972800" cy="365760"/>
          </a:xfrm>
          <a:prstGeom prst="rect">
            <a:avLst/>
          </a:prstGeom>
          <a:noFill/>
          <a:ln/>
        </p:spPr>
        <p:txBody>
          <a:bodyPr wrap="square" lIns="0" tIns="0" rIns="0" bIns="0" rtlCol="0" anchor="t"/>
          <a:lstStyle/>
          <a:p>
            <a:pPr indent="0" marL="0">
              <a:buNone/>
            </a:pPr>
            <a:r>
              <a:rPr lang="en-US" sz="1800" b="1" dirty="0">
                <a:solidFill>
                  <a:schemeClr val="accent1"/>
                </a:solidFill>
              </a:rPr>
              <a:t>53.5% of notes are longer than the 510 tokens the model can read</a:t>
            </a:r>
            <a:endParaRPr lang="en-US" sz="1800" dirty="0"/>
          </a:p>
        </p:txBody>
      </p:sp>
      <p:sp>
        <p:nvSpPr>
          <p:cNvPr id="4" name="kept"/>
          <p:cNvSpPr/>
          <p:nvPr/>
        </p:nvSpPr>
        <p:spPr>
          <a:xfrm>
            <a:off x="548640" y="1965960"/>
            <a:ext cx="1392814" cy="548640"/>
          </a:xfrm>
          <a:prstGeom prst="roundRect">
            <a:avLst>
              <a:gd name="adj" fmla="val 13333"/>
            </a:avLst>
          </a:prstGeom>
          <a:solidFill>
            <a:schemeClr val="accent1"/>
          </a:solidFill>
          <a:ln w="12700">
            <a:solidFill>
              <a:schemeClr val="accent1"/>
            </a:solidFill>
            <a:prstDash val="solid"/>
          </a:ln>
        </p:spPr>
      </p:sp>
      <p:sp>
        <p:nvSpPr>
          <p:cNvPr id="5" name="Text 3"/>
          <p:cNvSpPr txBox="1"/>
          <p:nvPr/>
        </p:nvSpPr>
        <p:spPr>
          <a:xfrm>
            <a:off x="548640" y="2606040"/>
            <a:ext cx="2011680" cy="548640"/>
          </a:xfrm>
          <a:prstGeom prst="rect">
            <a:avLst/>
          </a:prstGeom>
          <a:noFill/>
          <a:ln/>
        </p:spPr>
        <p:txBody>
          <a:bodyPr wrap="square" lIns="0" tIns="0" rIns="0" bIns="0" rtlCol="0" anchor="t"/>
          <a:lstStyle/>
          <a:p>
            <a:pPr indent="0" marL="0">
              <a:buNone/>
            </a:pPr>
            <a:r>
              <a:rPr lang="en-US" sz="1300" b="1" dirty="0">
                <a:solidFill>
                  <a:schemeClr val="tx2"/>
                </a:solidFill>
              </a:rPr>
              <a:t>first 128 tokens: the reason for the visit</a:t>
            </a:r>
            <a:endParaRPr lang="en-US" sz="1300" dirty="0"/>
          </a:p>
        </p:txBody>
      </p:sp>
      <p:sp>
        <p:nvSpPr>
          <p:cNvPr id="6" name="skipped"/>
          <p:cNvSpPr/>
          <p:nvPr/>
        </p:nvSpPr>
        <p:spPr>
          <a:xfrm>
            <a:off x="2032894" y="1965960"/>
            <a:ext cx="5331866" cy="548640"/>
          </a:xfrm>
          <a:prstGeom prst="roundRect">
            <a:avLst>
              <a:gd name="adj" fmla="val 13333"/>
            </a:avLst>
          </a:prstGeom>
          <a:solidFill>
            <a:schemeClr val="accent5">
              <a:alpha val="40000"/>
            </a:schemeClr>
          </a:solidFill>
          <a:ln w="12700">
            <a:solidFill>
              <a:schemeClr val="accent5"/>
            </a:solidFill>
            <a:prstDash val="solid"/>
          </a:ln>
        </p:spPr>
      </p:sp>
      <p:sp>
        <p:nvSpPr>
          <p:cNvPr id="7" name="Text 5"/>
          <p:cNvSpPr txBox="1"/>
          <p:nvPr/>
        </p:nvSpPr>
        <p:spPr>
          <a:xfrm>
            <a:off x="2697480" y="2606040"/>
            <a:ext cx="4572000" cy="548640"/>
          </a:xfrm>
          <a:prstGeom prst="rect">
            <a:avLst/>
          </a:prstGeom>
          <a:noFill/>
          <a:ln/>
        </p:spPr>
        <p:txBody>
          <a:bodyPr wrap="square" lIns="0" tIns="0" rIns="0" bIns="0" rtlCol="0" anchor="t"/>
          <a:lstStyle/>
          <a:p>
            <a:pPr indent="0" marL="0">
              <a:buNone/>
            </a:pPr>
            <a:r>
              <a:rPr lang="en-US" sz="1300" dirty="0">
                <a:solidFill>
                  <a:schemeClr val="accent5"/>
                </a:solidFill>
              </a:rPr>
              <a:t>middle: skipped (procedure detail, review of systems)</a:t>
            </a:r>
            <a:endParaRPr lang="en-US" sz="1300" dirty="0"/>
          </a:p>
        </p:txBody>
      </p:sp>
      <p:sp>
        <p:nvSpPr>
          <p:cNvPr id="8" name="kept"/>
          <p:cNvSpPr/>
          <p:nvPr/>
        </p:nvSpPr>
        <p:spPr>
          <a:xfrm>
            <a:off x="7456200" y="1965960"/>
            <a:ext cx="4156680" cy="548640"/>
          </a:xfrm>
          <a:prstGeom prst="roundRect">
            <a:avLst>
              <a:gd name="adj" fmla="val 13333"/>
            </a:avLst>
          </a:prstGeom>
          <a:solidFill>
            <a:schemeClr val="accent1"/>
          </a:solidFill>
          <a:ln w="12700">
            <a:solidFill>
              <a:schemeClr val="accent1"/>
            </a:solidFill>
            <a:prstDash val="solid"/>
          </a:ln>
        </p:spPr>
      </p:sp>
      <p:sp>
        <p:nvSpPr>
          <p:cNvPr id="9" name="Text 7"/>
          <p:cNvSpPr txBox="1"/>
          <p:nvPr/>
        </p:nvSpPr>
        <p:spPr>
          <a:xfrm>
            <a:off x="7456200" y="2606040"/>
            <a:ext cx="4156680" cy="548640"/>
          </a:xfrm>
          <a:prstGeom prst="rect">
            <a:avLst/>
          </a:prstGeom>
          <a:noFill/>
          <a:ln/>
        </p:spPr>
        <p:txBody>
          <a:bodyPr wrap="square" lIns="0" tIns="0" rIns="0" bIns="0" rtlCol="0" anchor="t"/>
          <a:lstStyle/>
          <a:p>
            <a:pPr indent="0" marL="0">
              <a:buNone/>
            </a:pPr>
            <a:r>
              <a:rPr lang="en-US" sz="1300" b="1" dirty="0">
                <a:solidFill>
                  <a:schemeClr val="tx2"/>
                </a:solidFill>
              </a:rPr>
              <a:t>last 382 tokens: the plan and follow-up</a:t>
            </a:r>
            <a:endParaRPr lang="en-US" sz="1300" dirty="0"/>
          </a:p>
        </p:txBody>
      </p:sp>
      <p:sp>
        <p:nvSpPr>
          <p:cNvPr id="10" name="Text 8"/>
          <p:cNvSpPr txBox="1"/>
          <p:nvPr/>
        </p:nvSpPr>
        <p:spPr>
          <a:xfrm>
            <a:off x="548640" y="3108960"/>
            <a:ext cx="11064240" cy="320040"/>
          </a:xfrm>
          <a:prstGeom prst="rect">
            <a:avLst/>
          </a:prstGeom>
          <a:noFill/>
          <a:ln/>
        </p:spPr>
        <p:txBody>
          <a:bodyPr wrap="square" lIns="0" tIns="0" rIns="0" bIns="0" rtlCol="0" anchor="t"/>
          <a:lstStyle/>
          <a:p>
            <a:pPr indent="0" marL="0">
              <a:buNone/>
            </a:pPr>
            <a:r>
              <a:rPr lang="en-US" sz="1300" dirty="0">
                <a:solidFill>
                  <a:schemeClr val="accent5"/>
                </a:solidFill>
              </a:rPr>
              <a:t>Head + tail (Sun et al., 2019), drawn to scale for a 1,000-token note: one read per note, the same cost as reading only the start</a:t>
            </a:r>
            <a:endParaRPr lang="en-US" sz="1300" dirty="0"/>
          </a:p>
        </p:txBody>
      </p:sp>
      <p:sp>
        <p:nvSpPr>
          <p:cNvPr id="11" name="spec"/>
          <p:cNvSpPr/>
          <p:nvPr/>
        </p:nvSpPr>
        <p:spPr>
          <a:xfrm>
            <a:off x="548640" y="3657600"/>
            <a:ext cx="3520440" cy="2240280"/>
          </a:xfrm>
          <a:prstGeom prst="roundRect">
            <a:avLst>
              <a:gd name="adj" fmla="val 4898"/>
            </a:avLst>
          </a:prstGeom>
          <a:solidFill>
            <a:schemeClr val="bg2"/>
          </a:solidFill>
          <a:ln w="12700">
            <a:solidFill>
              <a:schemeClr val="bg2"/>
            </a:solidFill>
            <a:prstDash val="solid"/>
          </a:ln>
        </p:spPr>
      </p:sp>
      <p:sp>
        <p:nvSpPr>
          <p:cNvPr id="12" name="icon-circle"/>
          <p:cNvSpPr/>
          <p:nvPr/>
        </p:nvSpPr>
        <p:spPr>
          <a:xfrm>
            <a:off x="822960" y="3840480"/>
            <a:ext cx="502920" cy="502920"/>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1"/>
          <a:stretch>
            <a:fillRect/>
          </a:stretch>
        </p:blipFill>
        <p:spPr>
          <a:xfrm>
            <a:off x="923544" y="3941064"/>
            <a:ext cx="301752" cy="301752"/>
          </a:xfrm>
          <a:prstGeom prst="rect">
            <a:avLst/>
          </a:prstGeom>
        </p:spPr>
      </p:pic>
      <p:sp>
        <p:nvSpPr>
          <p:cNvPr id="14" name="Text 11"/>
          <p:cNvSpPr txBox="1"/>
          <p:nvPr/>
        </p:nvSpPr>
        <p:spPr>
          <a:xfrm>
            <a:off x="1463040" y="3886200"/>
            <a:ext cx="2468880" cy="411480"/>
          </a:xfrm>
          <a:prstGeom prst="rect">
            <a:avLst/>
          </a:prstGeom>
          <a:noFill/>
          <a:ln/>
        </p:spPr>
        <p:txBody>
          <a:bodyPr wrap="square" lIns="0" tIns="0" rIns="0" bIns="0" rtlCol="0" anchor="ctr"/>
          <a:lstStyle/>
          <a:p>
            <a:pPr indent="0" marL="0">
              <a:buNone/>
            </a:pPr>
            <a:r>
              <a:rPr lang="en-US" sz="1800" b="1" dirty="0">
                <a:solidFill>
                  <a:schemeClr val="tx2"/>
                </a:solidFill>
              </a:rPr>
              <a:t>The model</a:t>
            </a:r>
            <a:endParaRPr lang="en-US" sz="1800" dirty="0"/>
          </a:p>
        </p:txBody>
      </p:sp>
      <p:sp>
        <p:nvSpPr>
          <p:cNvPr id="15" name="Text 12"/>
          <p:cNvSpPr txBox="1"/>
          <p:nvPr/>
        </p:nvSpPr>
        <p:spPr>
          <a:xfrm>
            <a:off x="822960" y="4526280"/>
            <a:ext cx="3017520" cy="1280160"/>
          </a:xfrm>
          <a:prstGeom prst="rect">
            <a:avLst/>
          </a:prstGeom>
          <a:noFill/>
          <a:ln/>
        </p:spPr>
        <p:txBody>
          <a:bodyPr wrap="square" lIns="0" tIns="0" rIns="0" bIns="0" rtlCol="0" anchor="t"/>
          <a:lstStyle/>
          <a:p>
            <a:pPr indent="0" marL="0">
              <a:buNone/>
            </a:pPr>
            <a:r>
              <a:rPr lang="en-US" sz="1500" dirty="0">
                <a:solidFill>
                  <a:schemeClr val="tx1"/>
                </a:solidFill>
              </a:rPr>
              <a:t>PubMedBERT: 12 layers, 109.5 million parameters, a biomedical vocabulary, plus one layer for 9 departments</a:t>
            </a:r>
            <a:endParaRPr lang="en-US" sz="1500" dirty="0"/>
          </a:p>
        </p:txBody>
      </p:sp>
      <p:sp>
        <p:nvSpPr>
          <p:cNvPr id="16" name="spec"/>
          <p:cNvSpPr/>
          <p:nvPr/>
        </p:nvSpPr>
        <p:spPr>
          <a:xfrm>
            <a:off x="4343400" y="3657600"/>
            <a:ext cx="3520440" cy="2240280"/>
          </a:xfrm>
          <a:prstGeom prst="roundRect">
            <a:avLst>
              <a:gd name="adj" fmla="val 4898"/>
            </a:avLst>
          </a:prstGeom>
          <a:solidFill>
            <a:schemeClr val="bg2"/>
          </a:solidFill>
          <a:ln w="12700">
            <a:solidFill>
              <a:schemeClr val="bg2"/>
            </a:solidFill>
            <a:prstDash val="solid"/>
          </a:ln>
        </p:spPr>
      </p:sp>
      <p:sp>
        <p:nvSpPr>
          <p:cNvPr id="17" name="icon-circle"/>
          <p:cNvSpPr/>
          <p:nvPr/>
        </p:nvSpPr>
        <p:spPr>
          <a:xfrm>
            <a:off x="4617720" y="3840480"/>
            <a:ext cx="502920" cy="502920"/>
          </a:xfrm>
          <a:prstGeom prst="ellipse">
            <a:avLst/>
          </a:prstGeom>
          <a:solidFill>
            <a:schemeClr val="accent1"/>
          </a:solidFill>
          <a:ln w="12700">
            <a:solidFill>
              <a:schemeClr val="accent1"/>
            </a:solidFill>
            <a:prstDash val="solid"/>
          </a:ln>
        </p:spPr>
      </p:sp>
      <p:pic>
        <p:nvPicPr>
          <p:cNvPr id="18" name="icon" descr="preencoded.png">    </p:cNvPr>
          <p:cNvPicPr>
            <a:picLocks noChangeAspect="1"/>
          </p:cNvPicPr>
          <p:nvPr/>
        </p:nvPicPr>
        <p:blipFill>
          <a:blip r:embed="rId2"/>
          <a:stretch>
            <a:fillRect/>
          </a:stretch>
        </p:blipFill>
        <p:spPr>
          <a:xfrm>
            <a:off x="4718304" y="3941064"/>
            <a:ext cx="301752" cy="301752"/>
          </a:xfrm>
          <a:prstGeom prst="rect">
            <a:avLst/>
          </a:prstGeom>
        </p:spPr>
      </p:pic>
      <p:sp>
        <p:nvSpPr>
          <p:cNvPr id="19" name="Text 15"/>
          <p:cNvSpPr txBox="1"/>
          <p:nvPr/>
        </p:nvSpPr>
        <p:spPr>
          <a:xfrm>
            <a:off x="5257800" y="3886200"/>
            <a:ext cx="2468880" cy="411480"/>
          </a:xfrm>
          <a:prstGeom prst="rect">
            <a:avLst/>
          </a:prstGeom>
          <a:noFill/>
          <a:ln/>
        </p:spPr>
        <p:txBody>
          <a:bodyPr wrap="square" lIns="0" tIns="0" rIns="0" bIns="0" rtlCol="0" anchor="ctr"/>
          <a:lstStyle/>
          <a:p>
            <a:pPr indent="0" marL="0">
              <a:buNone/>
            </a:pPr>
            <a:r>
              <a:rPr lang="en-US" sz="1800" b="1" dirty="0">
                <a:solidFill>
                  <a:schemeClr val="tx2"/>
                </a:solidFill>
              </a:rPr>
              <a:t>The training</a:t>
            </a:r>
            <a:endParaRPr lang="en-US" sz="1800" dirty="0"/>
          </a:p>
        </p:txBody>
      </p:sp>
      <p:sp>
        <p:nvSpPr>
          <p:cNvPr id="20" name="Text 16"/>
          <p:cNvSpPr txBox="1"/>
          <p:nvPr/>
        </p:nvSpPr>
        <p:spPr>
          <a:xfrm>
            <a:off x="4617720" y="4526280"/>
            <a:ext cx="3017520" cy="1280160"/>
          </a:xfrm>
          <a:prstGeom prst="rect">
            <a:avLst/>
          </a:prstGeom>
          <a:noFill/>
          <a:ln/>
        </p:spPr>
        <p:txBody>
          <a:bodyPr wrap="square" lIns="0" tIns="0" rIns="0" bIns="0" rtlCol="0" anchor="t"/>
          <a:lstStyle/>
          <a:p>
            <a:pPr indent="0" marL="0">
              <a:buNone/>
            </a:pPr>
            <a:r>
              <a:rPr lang="en-US" sz="1500" dirty="0">
                <a:solidFill>
                  <a:schemeClr val="tx1"/>
                </a:solidFill>
              </a:rPr>
              <a:t>AdamW at 3e-5, batch 8, 6 epochs, keep the best epoch on validation, class-weighted loss</a:t>
            </a:r>
            <a:endParaRPr lang="en-US" sz="1500" dirty="0"/>
          </a:p>
        </p:txBody>
      </p:sp>
      <p:sp>
        <p:nvSpPr>
          <p:cNvPr id="21" name="spec"/>
          <p:cNvSpPr/>
          <p:nvPr/>
        </p:nvSpPr>
        <p:spPr>
          <a:xfrm>
            <a:off x="8138160" y="3657600"/>
            <a:ext cx="3520440" cy="2240280"/>
          </a:xfrm>
          <a:prstGeom prst="roundRect">
            <a:avLst>
              <a:gd name="adj" fmla="val 4898"/>
            </a:avLst>
          </a:prstGeom>
          <a:solidFill>
            <a:schemeClr val="bg2"/>
          </a:solidFill>
          <a:ln w="12700">
            <a:solidFill>
              <a:schemeClr val="bg2"/>
            </a:solidFill>
            <a:prstDash val="solid"/>
          </a:ln>
        </p:spPr>
      </p:sp>
      <p:sp>
        <p:nvSpPr>
          <p:cNvPr id="22" name="icon-circle"/>
          <p:cNvSpPr/>
          <p:nvPr/>
        </p:nvSpPr>
        <p:spPr>
          <a:xfrm>
            <a:off x="8412480" y="3840480"/>
            <a:ext cx="502920" cy="502920"/>
          </a:xfrm>
          <a:prstGeom prst="ellipse">
            <a:avLst/>
          </a:prstGeom>
          <a:solidFill>
            <a:schemeClr val="accent1"/>
          </a:solidFill>
          <a:ln w="12700">
            <a:solidFill>
              <a:schemeClr val="accent1"/>
            </a:solidFill>
            <a:prstDash val="solid"/>
          </a:ln>
        </p:spPr>
      </p:sp>
      <p:pic>
        <p:nvPicPr>
          <p:cNvPr id="23" name="icon" descr="preencoded.png">    </p:cNvPr>
          <p:cNvPicPr>
            <a:picLocks noChangeAspect="1"/>
          </p:cNvPicPr>
          <p:nvPr/>
        </p:nvPicPr>
        <p:blipFill>
          <a:blip r:embed="rId3"/>
          <a:stretch>
            <a:fillRect/>
          </a:stretch>
        </p:blipFill>
        <p:spPr>
          <a:xfrm>
            <a:off x="8513064" y="3941064"/>
            <a:ext cx="301752" cy="301752"/>
          </a:xfrm>
          <a:prstGeom prst="rect">
            <a:avLst/>
          </a:prstGeom>
        </p:spPr>
      </p:pic>
      <p:sp>
        <p:nvSpPr>
          <p:cNvPr id="24" name="Text 19"/>
          <p:cNvSpPr txBox="1"/>
          <p:nvPr/>
        </p:nvSpPr>
        <p:spPr>
          <a:xfrm>
            <a:off x="9052560" y="3886200"/>
            <a:ext cx="2468880" cy="411480"/>
          </a:xfrm>
          <a:prstGeom prst="rect">
            <a:avLst/>
          </a:prstGeom>
          <a:noFill/>
          <a:ln/>
        </p:spPr>
        <p:txBody>
          <a:bodyPr wrap="square" lIns="0" tIns="0" rIns="0" bIns="0" rtlCol="0" anchor="ctr"/>
          <a:lstStyle/>
          <a:p>
            <a:pPr indent="0" marL="0">
              <a:buNone/>
            </a:pPr>
            <a:r>
              <a:rPr lang="en-US" sz="1800" b="1" dirty="0">
                <a:solidFill>
                  <a:schemeClr val="tx2"/>
                </a:solidFill>
              </a:rPr>
              <a:t>The hybrid</a:t>
            </a:r>
            <a:endParaRPr lang="en-US" sz="1800" dirty="0"/>
          </a:p>
        </p:txBody>
      </p:sp>
      <p:sp>
        <p:nvSpPr>
          <p:cNvPr id="25" name="Text 20"/>
          <p:cNvSpPr txBox="1"/>
          <p:nvPr/>
        </p:nvSpPr>
        <p:spPr>
          <a:xfrm>
            <a:off x="8412480" y="4526280"/>
            <a:ext cx="3017520" cy="1280160"/>
          </a:xfrm>
          <a:prstGeom prst="rect">
            <a:avLst/>
          </a:prstGeom>
          <a:noFill/>
          <a:ln/>
        </p:spPr>
        <p:txBody>
          <a:bodyPr wrap="square" lIns="0" tIns="0" rIns="0" bIns="0" rtlCol="0" anchor="t"/>
          <a:lstStyle/>
          <a:p>
            <a:pPr indent="0" marL="0">
              <a:buNone/>
            </a:pPr>
            <a:r>
              <a:rPr lang="en-US" sz="1500" dirty="0">
                <a:solidFill>
                  <a:schemeClr val="tx1"/>
                </a:solidFill>
              </a:rPr>
              <a:t>It reads context; Model 1 counts words. They fail on different notes, so their agreement is a safety signal</a:t>
            </a:r>
            <a:endParaRPr lang="en-US" sz="1500" dirty="0"/>
          </a:p>
        </p:txBody>
      </p:sp>
      <p:sp>
        <p:nvSpPr>
          <p:cNvPr id="26"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Jeffrey Li Chiu Lim</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Three experiments chose the model</a:t>
            </a:r>
            <a:endParaRPr lang="en-US" sz="3400" dirty="0"/>
          </a:p>
        </p:txBody>
      </p:sp>
      <p:graphicFrame>
        <p:nvGraphicFramePr>
          <p:cNvPr id="3" name="Chart 0" descr=""/>
          <p:cNvGraphicFramePr/>
          <p:nvPr/>
        </p:nvGraphicFramePr>
        <p:xfrm>
          <a:off x="548640" y="1417320"/>
          <a:ext cx="53949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417320"/>
          <a:ext cx="5394960" cy="3291840"/>
        </p:xfrm>
        <a:graphic xmlns:a="http://schemas.openxmlformats.org/drawingml/2006/main">
          <a:graphicData uri="http://schemas.openxmlformats.org/drawingml/2006/chart">
            <c:chart xmlns:c="http://schemas.openxmlformats.org/drawingml/2006/chart" r:id="rId2"/>
          </a:graphicData>
        </a:graphic>
      </p:graphicFrame>
      <p:sp>
        <p:nvSpPr>
          <p:cNvPr id="5" name="takeaways"/>
          <p:cNvSpPr/>
          <p:nvPr/>
        </p:nvSpPr>
        <p:spPr>
          <a:xfrm>
            <a:off x="548640" y="4937760"/>
            <a:ext cx="11064240" cy="1005840"/>
          </a:xfrm>
          <a:prstGeom prst="roundRect">
            <a:avLst>
              <a:gd name="adj" fmla="val 10909"/>
            </a:avLst>
          </a:prstGeom>
          <a:solidFill>
            <a:schemeClr val="bg2"/>
          </a:solidFill>
          <a:ln w="12700">
            <a:solidFill>
              <a:schemeClr val="bg2"/>
            </a:solidFill>
            <a:prstDash val="solid"/>
          </a:ln>
        </p:spPr>
      </p:sp>
      <p:sp>
        <p:nvSpPr>
          <p:cNvPr id="6" name="Text 2"/>
          <p:cNvSpPr txBox="1"/>
          <p:nvPr/>
        </p:nvSpPr>
        <p:spPr>
          <a:xfrm>
            <a:off x="777240" y="5029200"/>
            <a:ext cx="10607040" cy="822960"/>
          </a:xfrm>
          <a:prstGeom prst="rect">
            <a:avLst/>
          </a:prstGeom>
          <a:noFill/>
          <a:ln/>
        </p:spPr>
        <p:txBody>
          <a:bodyPr wrap="square" lIns="0" tIns="0" rIns="0" bIns="0" rtlCol="0" anchor="ctr"/>
          <a:lstStyle/>
          <a:p>
            <a:pPr indent="0" marL="0">
              <a:buNone/>
            </a:pPr>
            <a:r>
              <a:rPr lang="en-US" sz="1500" b="1" dirty="0">
                <a:solidFill>
                  <a:schemeClr val="tx1"/>
                </a:solidFill>
              </a:rPr>
              <a:t>Vocabulary beat clinical pretraining: </a:t>
            </a:r>
            <a:pPr indent="0" marL="0">
              <a:buNone/>
            </a:pPr>
            <a:r>
              <a:rPr lang="en-US" sz="1500" dirty="0">
                <a:solidFill>
                  <a:schemeClr val="tx1"/>
                </a:solidFill>
              </a:rPr>
              <a:t>"cholecystectomy" is 1 PubMedBERT token, 6 for the others.   </a:t>
            </a:r>
            <a:pPr indent="0" marL="0">
              <a:buNone/>
            </a:pPr>
            <a:r>
              <a:rPr lang="en-US" sz="1500" b="1" dirty="0">
                <a:solidFill>
                  <a:schemeClr val="tx1"/>
                </a:solidFill>
              </a:rPr>
              <a:t>3. Seed: </a:t>
            </a:r>
            <a:pPr indent="0" marL="0">
              <a:buNone/>
            </a:pPr>
            <a:r>
              <a:rPr lang="en-US" sz="1500" dirty="0">
                <a:solidFill>
                  <a:schemeClr val="tx1"/>
                </a:solidFill>
              </a:rPr>
              <a:t>five seeds give 0.928 ± 0.008, so head + tail's lead over head (0.021) is probable, not proven.</a:t>
            </a:r>
            <a:endParaRPr lang="en-US" sz="1500" dirty="0"/>
          </a:p>
        </p:txBody>
      </p:sp>
      <p:sp>
        <p:nvSpPr>
          <p:cNvPr id="7"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Jeffrey Li Chiu Lim</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PubMedBERT leads, but not significantly</a:t>
            </a:r>
            <a:endParaRPr lang="en-US" sz="3400" dirty="0"/>
          </a:p>
        </p:txBody>
      </p:sp>
      <p:graphicFrame>
        <p:nvGraphicFramePr>
          <p:cNvPr id="3" name="Chart 0" descr=""/>
          <p:cNvGraphicFramePr/>
          <p:nvPr/>
        </p:nvGraphicFramePr>
        <p:xfrm>
          <a:off x="548640" y="141732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4" name="fact"/>
          <p:cNvSpPr/>
          <p:nvPr/>
        </p:nvSpPr>
        <p:spPr>
          <a:xfrm>
            <a:off x="7498080" y="1508760"/>
            <a:ext cx="4114800" cy="1280160"/>
          </a:xfrm>
          <a:prstGeom prst="roundRect">
            <a:avLst>
              <a:gd name="adj" fmla="val 8571"/>
            </a:avLst>
          </a:prstGeom>
          <a:solidFill>
            <a:schemeClr val="bg2"/>
          </a:solidFill>
          <a:ln w="12700">
            <a:solidFill>
              <a:schemeClr val="bg2"/>
            </a:solidFill>
            <a:prstDash val="solid"/>
          </a:ln>
        </p:spPr>
      </p:sp>
      <p:sp>
        <p:nvSpPr>
          <p:cNvPr id="5" name="Text 2"/>
          <p:cNvSpPr txBox="1"/>
          <p:nvPr/>
        </p:nvSpPr>
        <p:spPr>
          <a:xfrm>
            <a:off x="7726680" y="1645920"/>
            <a:ext cx="1737360" cy="10058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+0.018</a:t>
            </a:r>
            <a:endParaRPr lang="en-US" sz="3000" dirty="0"/>
          </a:p>
        </p:txBody>
      </p:sp>
      <p:sp>
        <p:nvSpPr>
          <p:cNvPr id="6" name="Text 3"/>
          <p:cNvSpPr txBox="1"/>
          <p:nvPr/>
        </p:nvSpPr>
        <p:spPr>
          <a:xfrm>
            <a:off x="9464040" y="1645920"/>
            <a:ext cx="2011680" cy="1005840"/>
          </a:xfrm>
          <a:prstGeom prst="rect">
            <a:avLst/>
          </a:prstGeom>
          <a:noFill/>
          <a:ln/>
        </p:spPr>
        <p:txBody>
          <a:bodyPr wrap="square" lIns="0" tIns="0" rIns="0" bIns="0" rtlCol="0" anchor="ctr"/>
          <a:lstStyle/>
          <a:p>
            <a:pPr indent="0" marL="0">
              <a:buNone/>
            </a:pPr>
            <a:r>
              <a:rPr lang="en-US" sz="1400" dirty="0">
                <a:solidFill>
                  <a:schemeClr val="tx1"/>
                </a:solidFill>
              </a:rPr>
              <a:t>Model 2 over Model 1; 95% interval −0.007 to +0.047</a:t>
            </a:r>
            <a:endParaRPr lang="en-US" sz="1400" dirty="0"/>
          </a:p>
        </p:txBody>
      </p:sp>
      <p:sp>
        <p:nvSpPr>
          <p:cNvPr id="7" name="fact"/>
          <p:cNvSpPr/>
          <p:nvPr/>
        </p:nvSpPr>
        <p:spPr>
          <a:xfrm>
            <a:off x="7498080" y="2971800"/>
            <a:ext cx="4114800" cy="1280160"/>
          </a:xfrm>
          <a:prstGeom prst="roundRect">
            <a:avLst>
              <a:gd name="adj" fmla="val 8571"/>
            </a:avLst>
          </a:prstGeom>
          <a:solidFill>
            <a:schemeClr val="bg2"/>
          </a:solidFill>
          <a:ln w="12700">
            <a:solidFill>
              <a:schemeClr val="bg2"/>
            </a:solidFill>
            <a:prstDash val="solid"/>
          </a:ln>
        </p:spPr>
      </p:sp>
      <p:sp>
        <p:nvSpPr>
          <p:cNvPr id="8" name="Text 5"/>
          <p:cNvSpPr txBox="1"/>
          <p:nvPr/>
        </p:nvSpPr>
        <p:spPr>
          <a:xfrm>
            <a:off x="7726680" y="3108960"/>
            <a:ext cx="1737360" cy="10058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p = 0.36</a:t>
            </a:r>
            <a:endParaRPr lang="en-US" sz="3000" dirty="0"/>
          </a:p>
        </p:txBody>
      </p:sp>
      <p:sp>
        <p:nvSpPr>
          <p:cNvPr id="9" name="Text 6"/>
          <p:cNvSpPr txBox="1"/>
          <p:nvPr/>
        </p:nvSpPr>
        <p:spPr>
          <a:xfrm>
            <a:off x="9464040" y="3108960"/>
            <a:ext cx="2011680" cy="1005840"/>
          </a:xfrm>
          <a:prstGeom prst="rect">
            <a:avLst/>
          </a:prstGeom>
          <a:noFill/>
          <a:ln/>
        </p:spPr>
        <p:txBody>
          <a:bodyPr wrap="square" lIns="0" tIns="0" rIns="0" bIns="0" rtlCol="0" anchor="ctr"/>
          <a:lstStyle/>
          <a:p>
            <a:pPr indent="0" marL="0">
              <a:buNone/>
            </a:pPr>
            <a:r>
              <a:rPr lang="en-US" sz="1400" dirty="0">
                <a:solidFill>
                  <a:schemeClr val="tx1"/>
                </a:solidFill>
              </a:rPr>
              <a:t>McNemar test: 12 notes only Model 2 gets right, 7 only Model 1</a:t>
            </a:r>
            <a:endParaRPr lang="en-US" sz="1400" dirty="0"/>
          </a:p>
        </p:txBody>
      </p:sp>
      <p:sp>
        <p:nvSpPr>
          <p:cNvPr id="10" name="fact"/>
          <p:cNvSpPr/>
          <p:nvPr/>
        </p:nvSpPr>
        <p:spPr>
          <a:xfrm>
            <a:off x="7498080" y="4434840"/>
            <a:ext cx="4114800" cy="1280160"/>
          </a:xfrm>
          <a:prstGeom prst="roundRect">
            <a:avLst>
              <a:gd name="adj" fmla="val 8571"/>
            </a:avLst>
          </a:prstGeom>
          <a:solidFill>
            <a:schemeClr val="bg2"/>
          </a:solidFill>
          <a:ln w="12700">
            <a:solidFill>
              <a:schemeClr val="bg2"/>
            </a:solidFill>
            <a:prstDash val="solid"/>
          </a:ln>
        </p:spPr>
      </p:sp>
      <p:sp>
        <p:nvSpPr>
          <p:cNvPr id="11" name="Text 8"/>
          <p:cNvSpPr txBox="1"/>
          <p:nvPr/>
        </p:nvSpPr>
        <p:spPr>
          <a:xfrm>
            <a:off x="7726680" y="4572000"/>
            <a:ext cx="1737360" cy="10058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0.83</a:t>
            </a:r>
            <a:endParaRPr lang="en-US" sz="3000" dirty="0"/>
          </a:p>
        </p:txBody>
      </p:sp>
      <p:sp>
        <p:nvSpPr>
          <p:cNvPr id="12" name="Text 9"/>
          <p:cNvSpPr txBox="1"/>
          <p:nvPr/>
        </p:nvSpPr>
        <p:spPr>
          <a:xfrm>
            <a:off x="9464040" y="4572000"/>
            <a:ext cx="2011680" cy="1005840"/>
          </a:xfrm>
          <a:prstGeom prst="rect">
            <a:avLst/>
          </a:prstGeom>
          <a:noFill/>
          <a:ln/>
        </p:spPr>
        <p:txBody>
          <a:bodyPr wrap="square" lIns="0" tIns="0" rIns="0" bIns="0" rtlCol="0" anchor="ctr"/>
          <a:lstStyle/>
          <a:p>
            <a:pPr indent="0" marL="0">
              <a:buNone/>
            </a:pPr>
            <a:r>
              <a:rPr lang="en-US" sz="1400" dirty="0">
                <a:solidFill>
                  <a:schemeClr val="tx1"/>
                </a:solidFill>
              </a:rPr>
              <a:t>General Medicine, the weakest department for both: no anatomy of its own</a:t>
            </a:r>
            <a:endParaRPr lang="en-US" sz="1400" dirty="0"/>
          </a:p>
        </p:txBody>
      </p:sp>
      <p:sp>
        <p:nvSpPr>
          <p:cNvPr id="13"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Deevesh Rughoo</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Our best model is sure when it cannot know</a:t>
            </a:r>
            <a:endParaRPr lang="en-US" sz="3400" dirty="0"/>
          </a:p>
        </p:txBody>
      </p:sp>
      <p:sp>
        <p:nvSpPr>
          <p:cNvPr id="3" name="Text 1"/>
          <p:cNvSpPr txBox="1"/>
          <p:nvPr/>
        </p:nvSpPr>
        <p:spPr>
          <a:xfrm>
            <a:off x="548640" y="1371600"/>
            <a:ext cx="10972800" cy="365760"/>
          </a:xfrm>
          <a:prstGeom prst="rect">
            <a:avLst/>
          </a:prstGeom>
          <a:noFill/>
          <a:ln/>
        </p:spPr>
        <p:txBody>
          <a:bodyPr wrap="square" lIns="0" tIns="0" rIns="0" bIns="0" rtlCol="0" anchor="t"/>
          <a:lstStyle/>
          <a:p>
            <a:pPr indent="0" marL="0">
              <a:buNone/>
            </a:pPr>
            <a:r>
              <a:rPr lang="en-US" sz="1600" dirty="0">
                <a:solidFill>
                  <a:schemeClr val="accent5"/>
                </a:solidFill>
              </a:rPr>
              <a:t>461 notes from 24 departments the models never saw (dermatology, psychiatry, oncology ...)</a:t>
            </a:r>
            <a:endParaRPr lang="en-US" sz="1600" dirty="0"/>
          </a:p>
        </p:txBody>
      </p:sp>
      <p:sp>
        <p:nvSpPr>
          <p:cNvPr id="4" name="alone"/>
          <p:cNvSpPr/>
          <p:nvPr/>
        </p:nvSpPr>
        <p:spPr>
          <a:xfrm>
            <a:off x="548640" y="1874520"/>
            <a:ext cx="3566160" cy="2468880"/>
          </a:xfrm>
          <a:prstGeom prst="roundRect">
            <a:avLst>
              <a:gd name="adj" fmla="val 4444"/>
            </a:avLst>
          </a:prstGeom>
          <a:solidFill>
            <a:schemeClr val="bg2"/>
          </a:solidFill>
          <a:ln w="12700">
            <a:solidFill>
              <a:schemeClr val="bg2"/>
            </a:solidFill>
            <a:prstDash val="solid"/>
          </a:ln>
        </p:spPr>
      </p:sp>
      <p:sp>
        <p:nvSpPr>
          <p:cNvPr id="5" name="Text 3"/>
          <p:cNvSpPr txBox="1"/>
          <p:nvPr/>
        </p:nvSpPr>
        <p:spPr>
          <a:xfrm>
            <a:off x="777240" y="2057400"/>
            <a:ext cx="3108960" cy="1005840"/>
          </a:xfrm>
          <a:prstGeom prst="rect">
            <a:avLst/>
          </a:prstGeom>
          <a:noFill/>
          <a:ln/>
        </p:spPr>
        <p:txBody>
          <a:bodyPr wrap="square" lIns="0" tIns="0" rIns="0" bIns="0" rtlCol="0" anchor="t"/>
          <a:lstStyle/>
          <a:p>
            <a:pPr indent="0" marL="0">
              <a:buNone/>
            </a:pPr>
            <a:r>
              <a:rPr lang="en-US" sz="6000" b="1" dirty="0">
                <a:solidFill>
                  <a:schemeClr val="accent3"/>
                </a:solidFill>
                <a:latin typeface="Cambria" pitchFamily="34" charset="0"/>
                <a:ea typeface="Cambria" pitchFamily="34" charset="-122"/>
                <a:cs typeface="Cambria" pitchFamily="34" charset="-120"/>
              </a:rPr>
              <a:t>51.6%</a:t>
            </a:r>
            <a:endParaRPr lang="en-US" sz="6000" dirty="0"/>
          </a:p>
        </p:txBody>
      </p:sp>
      <p:sp>
        <p:nvSpPr>
          <p:cNvPr id="6" name="Text 4"/>
          <p:cNvSpPr txBox="1"/>
          <p:nvPr/>
        </p:nvSpPr>
        <p:spPr>
          <a:xfrm>
            <a:off x="777240" y="3108960"/>
            <a:ext cx="3154680" cy="1371600"/>
          </a:xfrm>
          <a:prstGeom prst="rect">
            <a:avLst/>
          </a:prstGeom>
          <a:noFill/>
          <a:ln/>
        </p:spPr>
        <p:txBody>
          <a:bodyPr wrap="square" lIns="0" tIns="0" rIns="0" bIns="0" rtlCol="0" anchor="t"/>
          <a:lstStyle/>
          <a:p>
            <a:pPr indent="0" marL="0">
              <a:buNone/>
            </a:pPr>
            <a:r>
              <a:rPr lang="en-US" sz="1500" dirty="0">
                <a:solidFill>
                  <a:schemeClr val="tx1"/>
                </a:solidFill>
              </a:rPr>
              <a:t>put on the fast track by PubMedBERT alone, always to a wrong department (mean confidence 0.894)</a:t>
            </a:r>
            <a:endParaRPr lang="en-US" sz="1500" dirty="0"/>
          </a:p>
        </p:txBody>
      </p:sp>
      <p:sp>
        <p:nvSpPr>
          <p:cNvPr id="7" name="arrow"/>
          <p:cNvSpPr/>
          <p:nvPr/>
        </p:nvSpPr>
        <p:spPr>
          <a:xfrm>
            <a:off x="4297680" y="2962656"/>
            <a:ext cx="548640" cy="292608"/>
          </a:xfrm>
          <a:prstGeom prst="rightArrow">
            <a:avLst/>
          </a:prstGeom>
          <a:solidFill>
            <a:schemeClr val="accent1"/>
          </a:solidFill>
          <a:ln w="12700">
            <a:solidFill>
              <a:schemeClr val="accent1"/>
            </a:solidFill>
            <a:prstDash val="solid"/>
          </a:ln>
        </p:spPr>
      </p:sp>
      <p:sp>
        <p:nvSpPr>
          <p:cNvPr id="8" name="two-keys"/>
          <p:cNvSpPr/>
          <p:nvPr/>
        </p:nvSpPr>
        <p:spPr>
          <a:xfrm>
            <a:off x="5029200" y="1874520"/>
            <a:ext cx="3566160" cy="2468880"/>
          </a:xfrm>
          <a:prstGeom prst="roundRect">
            <a:avLst>
              <a:gd name="adj" fmla="val 4444"/>
            </a:avLst>
          </a:prstGeom>
          <a:solidFill>
            <a:schemeClr val="bg2"/>
          </a:solidFill>
          <a:ln w="12700">
            <a:solidFill>
              <a:schemeClr val="bg2"/>
            </a:solidFill>
            <a:prstDash val="solid"/>
          </a:ln>
        </p:spPr>
      </p:sp>
      <p:sp>
        <p:nvSpPr>
          <p:cNvPr id="9" name="Text 7"/>
          <p:cNvSpPr txBox="1"/>
          <p:nvPr/>
        </p:nvSpPr>
        <p:spPr>
          <a:xfrm>
            <a:off x="5257800" y="2057400"/>
            <a:ext cx="3108960" cy="100584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11.5%</a:t>
            </a:r>
            <a:endParaRPr lang="en-US" sz="6000" dirty="0"/>
          </a:p>
        </p:txBody>
      </p:sp>
      <p:sp>
        <p:nvSpPr>
          <p:cNvPr id="10" name="Text 8"/>
          <p:cNvSpPr txBox="1"/>
          <p:nvPr/>
        </p:nvSpPr>
        <p:spPr>
          <a:xfrm>
            <a:off x="5257800" y="3108960"/>
            <a:ext cx="3154680" cy="1371600"/>
          </a:xfrm>
          <a:prstGeom prst="rect">
            <a:avLst/>
          </a:prstGeom>
          <a:noFill/>
          <a:ln/>
        </p:spPr>
        <p:txBody>
          <a:bodyPr wrap="square" lIns="0" tIns="0" rIns="0" bIns="0" rtlCol="0" anchor="t"/>
          <a:lstStyle/>
          <a:p>
            <a:pPr indent="0" marL="0">
              <a:buNone/>
            </a:pPr>
            <a:r>
              <a:rPr lang="en-US" sz="1500" dirty="0">
                <a:solidFill>
                  <a:schemeClr val="tx1"/>
                </a:solidFill>
              </a:rPr>
              <a:t>with our two-key rule: both models confident and in agreement</a:t>
            </a:r>
            <a:endParaRPr lang="en-US" sz="1500" dirty="0"/>
          </a:p>
        </p:txBody>
      </p:sp>
      <p:sp>
        <p:nvSpPr>
          <p:cNvPr id="11" name="Text 9"/>
          <p:cNvSpPr txBox="1"/>
          <p:nvPr/>
        </p:nvSpPr>
        <p:spPr>
          <a:xfrm>
            <a:off x="8961120" y="1874520"/>
            <a:ext cx="2651760" cy="365760"/>
          </a:xfrm>
          <a:prstGeom prst="rect">
            <a:avLst/>
          </a:prstGeom>
          <a:noFill/>
          <a:ln/>
        </p:spPr>
        <p:txBody>
          <a:bodyPr wrap="square" lIns="0" tIns="0" rIns="0" bIns="0" rtlCol="0" anchor="t"/>
          <a:lstStyle/>
          <a:p>
            <a:pPr indent="0" marL="0">
              <a:buNone/>
            </a:pPr>
            <a:r>
              <a:rPr lang="en-US" sz="1600" b="1" dirty="0">
                <a:solidFill>
                  <a:schemeClr val="tx2"/>
                </a:solidFill>
              </a:rPr>
              <a:t>The cost of the second key</a:t>
            </a:r>
            <a:endParaRPr lang="en-US" sz="1600" dirty="0"/>
          </a:p>
        </p:txBody>
      </p:sp>
      <p:sp>
        <p:nvSpPr>
          <p:cNvPr id="12" name="Text 10"/>
          <p:cNvSpPr txBox="1"/>
          <p:nvPr/>
        </p:nvSpPr>
        <p:spPr>
          <a:xfrm>
            <a:off x="8961120" y="2286000"/>
            <a:ext cx="265176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67.4% of notes on the fast track, at 97.4% accuracy</a:t>
            </a:r>
            <a:endParaRPr lang="en-US" sz="1400" dirty="0"/>
          </a:p>
          <a:p>
            <a:pPr marL="342900" indent="-342900">
              <a:spcAft>
                <a:spcPts val="600"/>
              </a:spcAft>
              <a:buSzPct val="100000"/>
              <a:buChar char="•"/>
            </a:pPr>
            <a:r>
              <a:rPr lang="en-US" sz="1400" dirty="0">
                <a:solidFill>
                  <a:schemeClr val="tx1"/>
                </a:solidFill>
              </a:rPr>
              <a:t>Full reviews rise from 131 to 326 per 1,000 notes</a:t>
            </a:r>
            <a:endParaRPr lang="en-US" sz="1400" dirty="0"/>
          </a:p>
          <a:p>
            <a:pPr marL="342900" indent="-342900">
              <a:buSzPct val="100000"/>
              <a:buChar char="•"/>
            </a:pPr>
            <a:r>
              <a:rPr lang="en-US" sz="1400" dirty="0">
                <a:solidFill>
                  <a:schemeClr val="tx1"/>
                </a:solidFill>
              </a:rPr>
              <a:t>Wrong fast-track suggestions fall from 27 to 17 per 1,000</a:t>
            </a:r>
            <a:endParaRPr lang="en-US" sz="1400" dirty="0"/>
          </a:p>
        </p:txBody>
      </p:sp>
      <p:sp>
        <p:nvSpPr>
          <p:cNvPr id="13" name="lesson"/>
          <p:cNvSpPr/>
          <p:nvPr/>
        </p:nvSpPr>
        <p:spPr>
          <a:xfrm>
            <a:off x="548640" y="4663440"/>
            <a:ext cx="11064240" cy="1005840"/>
          </a:xfrm>
          <a:prstGeom prst="roundRect">
            <a:avLst>
              <a:gd name="adj" fmla="val 10909"/>
            </a:avLst>
          </a:prstGeom>
          <a:solidFill>
            <a:schemeClr val="accent2"/>
          </a:solidFill>
          <a:ln w="12700">
            <a:solidFill>
              <a:schemeClr val="accent2"/>
            </a:solidFill>
            <a:prstDash val="solid"/>
          </a:ln>
        </p:spPr>
      </p:sp>
      <p:sp>
        <p:nvSpPr>
          <p:cNvPr id="14" name="Text 12"/>
          <p:cNvSpPr txBox="1"/>
          <p:nvPr/>
        </p:nvSpPr>
        <p:spPr>
          <a:xfrm>
            <a:off x="822960" y="4663440"/>
            <a:ext cx="10515600" cy="1005840"/>
          </a:xfrm>
          <a:prstGeom prst="rect">
            <a:avLst/>
          </a:prstGeom>
          <a:noFill/>
          <a:ln/>
        </p:spPr>
        <p:txBody>
          <a:bodyPr wrap="square" lIns="0" tIns="0" rIns="0" bIns="0" rtlCol="0" anchor="ctr"/>
          <a:lstStyle/>
          <a:p>
            <a:pPr indent="0" marL="0">
              <a:buNone/>
            </a:pPr>
            <a:r>
              <a:rPr lang="en-US" sz="1700" b="1" dirty="0">
                <a:solidFill>
                  <a:schemeClr val="tx2"/>
                </a:solidFill>
              </a:rPr>
              <a:t>A confident wrong suggestion is the worst error, so we trade coverage for safety. 11.5% is still not zero: a person checks every note.</a:t>
            </a:r>
            <a:endParaRPr lang="en-US" sz="1700" dirty="0"/>
          </a:p>
        </p:txBody>
      </p:sp>
      <p:sp>
        <p:nvSpPr>
          <p:cNvPr id="15"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Deevesh Rughoo</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Live demo: one note, start to finish</a:t>
            </a:r>
            <a:endParaRPr lang="en-US" sz="3400" dirty="0"/>
          </a:p>
        </p:txBody>
      </p:sp>
      <p:sp>
        <p:nvSpPr>
          <p:cNvPr id="3" name="demo-step"/>
          <p:cNvSpPr/>
          <p:nvPr/>
        </p:nvSpPr>
        <p:spPr>
          <a:xfrm>
            <a:off x="548640" y="1600200"/>
            <a:ext cx="2560320" cy="3200400"/>
          </a:xfrm>
          <a:prstGeom prst="roundRect">
            <a:avLst>
              <a:gd name="adj" fmla="val 4286"/>
            </a:avLst>
          </a:prstGeom>
          <a:solidFill>
            <a:schemeClr val="bg1">
              <a:alpha val="12000"/>
            </a:schemeClr>
          </a:solidFill>
          <a:ln w="12700">
            <a:solidFill>
              <a:schemeClr val="accent4"/>
            </a:solidFill>
            <a:prstDash val="solid"/>
          </a:ln>
        </p:spPr>
      </p:sp>
      <p:sp>
        <p:nvSpPr>
          <p:cNvPr id="4" name="icon-circle"/>
          <p:cNvSpPr/>
          <p:nvPr/>
        </p:nvSpPr>
        <p:spPr>
          <a:xfrm>
            <a:off x="822960" y="1874520"/>
            <a:ext cx="640080" cy="64008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50976" y="2002536"/>
            <a:ext cx="384048" cy="384048"/>
          </a:xfrm>
          <a:prstGeom prst="rect">
            <a:avLst/>
          </a:prstGeom>
        </p:spPr>
      </p:pic>
      <p:sp>
        <p:nvSpPr>
          <p:cNvPr id="6" name="Text 3"/>
          <p:cNvSpPr txBox="1"/>
          <p:nvPr/>
        </p:nvSpPr>
        <p:spPr>
          <a:xfrm>
            <a:off x="822960" y="2697480"/>
            <a:ext cx="2103120" cy="777240"/>
          </a:xfrm>
          <a:prstGeom prst="rect">
            <a:avLst/>
          </a:prstGeom>
          <a:noFill/>
          <a:ln/>
        </p:spPr>
        <p:txBody>
          <a:bodyPr wrap="square" lIns="0" tIns="0" rIns="0" bIns="0" rtlCol="0" anchor="t"/>
          <a:lstStyle/>
          <a:p>
            <a:pPr indent="0" marL="0">
              <a:buNone/>
            </a:pPr>
            <a:r>
              <a:rPr lang="en-US" sz="1800" b="1" dirty="0">
                <a:solidFill>
                  <a:schemeClr val="bg1"/>
                </a:solidFill>
              </a:rPr>
              <a:t>1. Route a test note</a:t>
            </a:r>
            <a:endParaRPr lang="en-US" sz="1800" dirty="0"/>
          </a:p>
        </p:txBody>
      </p:sp>
      <p:sp>
        <p:nvSpPr>
          <p:cNvPr id="7" name="Text 4"/>
          <p:cNvSpPr txBox="1"/>
          <p:nvPr/>
        </p:nvSpPr>
        <p:spPr>
          <a:xfrm>
            <a:off x="822960" y="3520440"/>
            <a:ext cx="2103120" cy="1508760"/>
          </a:xfrm>
          <a:prstGeom prst="rect">
            <a:avLst/>
          </a:prstGeom>
          <a:noFill/>
          <a:ln/>
        </p:spPr>
        <p:txBody>
          <a:bodyPr wrap="square" lIns="0" tIns="0" rIns="0" bIns="0" rtlCol="0" anchor="t"/>
          <a:lstStyle/>
          <a:p>
            <a:pPr indent="0" marL="0">
              <a:buNone/>
            </a:pPr>
            <a:r>
              <a:rPr lang="en-US" sz="1500" dirty="0">
                <a:solidFill>
                  <a:schemeClr val="bg2"/>
                </a:solidFill>
              </a:rPr>
              <a:t>the suggestion, both models' confidence and the key words</a:t>
            </a:r>
            <a:endParaRPr lang="en-US" sz="1500" dirty="0"/>
          </a:p>
        </p:txBody>
      </p:sp>
      <p:sp>
        <p:nvSpPr>
          <p:cNvPr id="8" name="demo-step"/>
          <p:cNvSpPr/>
          <p:nvPr/>
        </p:nvSpPr>
        <p:spPr>
          <a:xfrm>
            <a:off x="3364992" y="1600200"/>
            <a:ext cx="2560320" cy="3200400"/>
          </a:xfrm>
          <a:prstGeom prst="roundRect">
            <a:avLst>
              <a:gd name="adj" fmla="val 4286"/>
            </a:avLst>
          </a:prstGeom>
          <a:solidFill>
            <a:schemeClr val="bg1">
              <a:alpha val="12000"/>
            </a:schemeClr>
          </a:solidFill>
          <a:ln w="12700">
            <a:solidFill>
              <a:schemeClr val="accent4"/>
            </a:solidFill>
            <a:prstDash val="solid"/>
          </a:ln>
        </p:spPr>
      </p:sp>
      <p:sp>
        <p:nvSpPr>
          <p:cNvPr id="9" name="icon-circle"/>
          <p:cNvSpPr/>
          <p:nvPr/>
        </p:nvSpPr>
        <p:spPr>
          <a:xfrm>
            <a:off x="3639312" y="1874520"/>
            <a:ext cx="640080" cy="64008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3767328" y="2002536"/>
            <a:ext cx="384048" cy="384048"/>
          </a:xfrm>
          <a:prstGeom prst="rect">
            <a:avLst/>
          </a:prstGeom>
        </p:spPr>
      </p:pic>
      <p:sp>
        <p:nvSpPr>
          <p:cNvPr id="11" name="Text 7"/>
          <p:cNvSpPr txBox="1"/>
          <p:nvPr/>
        </p:nvSpPr>
        <p:spPr>
          <a:xfrm>
            <a:off x="3639312" y="2697480"/>
            <a:ext cx="2103120" cy="777240"/>
          </a:xfrm>
          <a:prstGeom prst="rect">
            <a:avLst/>
          </a:prstGeom>
          <a:noFill/>
          <a:ln/>
        </p:spPr>
        <p:txBody>
          <a:bodyPr wrap="square" lIns="0" tIns="0" rIns="0" bIns="0" rtlCol="0" anchor="t"/>
          <a:lstStyle/>
          <a:p>
            <a:pPr indent="0" marL="0">
              <a:buNone/>
            </a:pPr>
            <a:r>
              <a:rPr lang="en-US" sz="1800" b="1" dirty="0">
                <a:solidFill>
                  <a:schemeClr val="bg1"/>
                </a:solidFill>
              </a:rPr>
              <a:t>2. Open the steps</a:t>
            </a:r>
            <a:endParaRPr lang="en-US" sz="1800" dirty="0"/>
          </a:p>
        </p:txBody>
      </p:sp>
      <p:sp>
        <p:nvSpPr>
          <p:cNvPr id="12" name="Text 8"/>
          <p:cNvSpPr txBox="1"/>
          <p:nvPr/>
        </p:nvSpPr>
        <p:spPr>
          <a:xfrm>
            <a:off x="3639312" y="3520440"/>
            <a:ext cx="2103120" cy="1508760"/>
          </a:xfrm>
          <a:prstGeom prst="rect">
            <a:avLst/>
          </a:prstGeom>
          <a:noFill/>
          <a:ln/>
        </p:spPr>
        <p:txBody>
          <a:bodyPr wrap="square" lIns="0" tIns="0" rIns="0" bIns="0" rtlCol="0" anchor="t"/>
          <a:lstStyle/>
          <a:p>
            <a:pPr indent="0" marL="0">
              <a:buNone/>
            </a:pPr>
            <a:r>
              <a:rPr lang="en-US" sz="1500" dirty="0">
                <a:solidFill>
                  <a:schemeClr val="bg2"/>
                </a:solidFill>
              </a:rPr>
              <a:t>how each model took the note apart, word by word</a:t>
            </a:r>
            <a:endParaRPr lang="en-US" sz="1500" dirty="0"/>
          </a:p>
        </p:txBody>
      </p:sp>
      <p:sp>
        <p:nvSpPr>
          <p:cNvPr id="13" name="demo-step"/>
          <p:cNvSpPr/>
          <p:nvPr/>
        </p:nvSpPr>
        <p:spPr>
          <a:xfrm>
            <a:off x="6181344" y="1600200"/>
            <a:ext cx="2560320" cy="3200400"/>
          </a:xfrm>
          <a:prstGeom prst="roundRect">
            <a:avLst>
              <a:gd name="adj" fmla="val 4286"/>
            </a:avLst>
          </a:prstGeom>
          <a:solidFill>
            <a:schemeClr val="bg1">
              <a:alpha val="12000"/>
            </a:schemeClr>
          </a:solidFill>
          <a:ln w="12700">
            <a:solidFill>
              <a:schemeClr val="accent4"/>
            </a:solidFill>
            <a:prstDash val="solid"/>
          </a:ln>
        </p:spPr>
      </p:sp>
      <p:sp>
        <p:nvSpPr>
          <p:cNvPr id="14" name="icon-circle"/>
          <p:cNvSpPr/>
          <p:nvPr/>
        </p:nvSpPr>
        <p:spPr>
          <a:xfrm>
            <a:off x="6455664" y="1874520"/>
            <a:ext cx="640080" cy="640080"/>
          </a:xfrm>
          <a:prstGeom prst="ellipse">
            <a:avLst/>
          </a:prstGeom>
          <a:solidFill>
            <a:schemeClr val="accent2"/>
          </a:solidFill>
          <a:ln w="12700">
            <a:solidFill>
              <a:schemeClr val="accent2"/>
            </a:solidFill>
            <a:prstDash val="solid"/>
          </a:ln>
        </p:spPr>
      </p:sp>
      <p:pic>
        <p:nvPicPr>
          <p:cNvPr id="15" name="icon" descr="preencoded.png">    </p:cNvPr>
          <p:cNvPicPr>
            <a:picLocks noChangeAspect="1"/>
          </p:cNvPicPr>
          <p:nvPr/>
        </p:nvPicPr>
        <p:blipFill>
          <a:blip r:embed="rId3"/>
          <a:stretch>
            <a:fillRect/>
          </a:stretch>
        </p:blipFill>
        <p:spPr>
          <a:xfrm>
            <a:off x="6583680" y="2002536"/>
            <a:ext cx="384048" cy="384048"/>
          </a:xfrm>
          <a:prstGeom prst="rect">
            <a:avLst/>
          </a:prstGeom>
        </p:spPr>
      </p:pic>
      <p:sp>
        <p:nvSpPr>
          <p:cNvPr id="16" name="Text 11"/>
          <p:cNvSpPr txBox="1"/>
          <p:nvPr/>
        </p:nvSpPr>
        <p:spPr>
          <a:xfrm>
            <a:off x="6455664" y="2697480"/>
            <a:ext cx="2103120" cy="777240"/>
          </a:xfrm>
          <a:prstGeom prst="rect">
            <a:avLst/>
          </a:prstGeom>
          <a:noFill/>
          <a:ln/>
        </p:spPr>
        <p:txBody>
          <a:bodyPr wrap="square" lIns="0" tIns="0" rIns="0" bIns="0" rtlCol="0" anchor="t"/>
          <a:lstStyle/>
          <a:p>
            <a:pPr indent="0" marL="0">
              <a:buNone/>
            </a:pPr>
            <a:r>
              <a:rPr lang="en-US" sz="1800" b="1" dirty="0">
                <a:solidFill>
                  <a:schemeClr val="bg1"/>
                </a:solidFill>
              </a:rPr>
              <a:t>3. Route a dermatology note</a:t>
            </a:r>
            <a:endParaRPr lang="en-US" sz="1800" dirty="0"/>
          </a:p>
        </p:txBody>
      </p:sp>
      <p:sp>
        <p:nvSpPr>
          <p:cNvPr id="17" name="Text 12"/>
          <p:cNvSpPr txBox="1"/>
          <p:nvPr/>
        </p:nvSpPr>
        <p:spPr>
          <a:xfrm>
            <a:off x="6455664" y="3520440"/>
            <a:ext cx="2103120" cy="1508760"/>
          </a:xfrm>
          <a:prstGeom prst="rect">
            <a:avLst/>
          </a:prstGeom>
          <a:noFill/>
          <a:ln/>
        </p:spPr>
        <p:txBody>
          <a:bodyPr wrap="square" lIns="0" tIns="0" rIns="0" bIns="0" rtlCol="0" anchor="t"/>
          <a:lstStyle/>
          <a:p>
            <a:pPr indent="0" marL="0">
              <a:buNone/>
            </a:pPr>
            <a:r>
              <a:rPr lang="en-US" sz="1500" dirty="0">
                <a:solidFill>
                  <a:schemeClr val="bg2"/>
                </a:solidFill>
              </a:rPr>
              <a:t>a department it never saw: no fast track, full review</a:t>
            </a:r>
            <a:endParaRPr lang="en-US" sz="1500" dirty="0"/>
          </a:p>
        </p:txBody>
      </p:sp>
      <p:sp>
        <p:nvSpPr>
          <p:cNvPr id="18" name="demo-step"/>
          <p:cNvSpPr/>
          <p:nvPr/>
        </p:nvSpPr>
        <p:spPr>
          <a:xfrm>
            <a:off x="8997696" y="1600200"/>
            <a:ext cx="2560320" cy="3200400"/>
          </a:xfrm>
          <a:prstGeom prst="roundRect">
            <a:avLst>
              <a:gd name="adj" fmla="val 4286"/>
            </a:avLst>
          </a:prstGeom>
          <a:solidFill>
            <a:schemeClr val="bg1">
              <a:alpha val="12000"/>
            </a:schemeClr>
          </a:solidFill>
          <a:ln w="12700">
            <a:solidFill>
              <a:schemeClr val="accent4"/>
            </a:solidFill>
            <a:prstDash val="solid"/>
          </a:ln>
        </p:spPr>
      </p:sp>
      <p:sp>
        <p:nvSpPr>
          <p:cNvPr id="19" name="icon-circle"/>
          <p:cNvSpPr/>
          <p:nvPr/>
        </p:nvSpPr>
        <p:spPr>
          <a:xfrm>
            <a:off x="9272016" y="1874520"/>
            <a:ext cx="640080" cy="64008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9400032" y="2002536"/>
            <a:ext cx="384048" cy="384048"/>
          </a:xfrm>
          <a:prstGeom prst="rect">
            <a:avLst/>
          </a:prstGeom>
        </p:spPr>
      </p:pic>
      <p:sp>
        <p:nvSpPr>
          <p:cNvPr id="21" name="Text 15"/>
          <p:cNvSpPr txBox="1"/>
          <p:nvPr/>
        </p:nvSpPr>
        <p:spPr>
          <a:xfrm>
            <a:off x="9272016" y="2697480"/>
            <a:ext cx="2103120" cy="777240"/>
          </a:xfrm>
          <a:prstGeom prst="rect">
            <a:avLst/>
          </a:prstGeom>
          <a:noFill/>
          <a:ln/>
        </p:spPr>
        <p:txBody>
          <a:bodyPr wrap="square" lIns="0" tIns="0" rIns="0" bIns="0" rtlCol="0" anchor="t"/>
          <a:lstStyle/>
          <a:p>
            <a:pPr indent="0" marL="0">
              <a:buNone/>
            </a:pPr>
            <a:r>
              <a:rPr lang="en-US" sz="1800" b="1" dirty="0">
                <a:solidFill>
                  <a:schemeClr val="bg1"/>
                </a:solidFill>
              </a:rPr>
              <a:t>4. Confirm or change it</a:t>
            </a:r>
            <a:endParaRPr lang="en-US" sz="1800" dirty="0"/>
          </a:p>
        </p:txBody>
      </p:sp>
      <p:sp>
        <p:nvSpPr>
          <p:cNvPr id="22" name="Text 16"/>
          <p:cNvSpPr txBox="1"/>
          <p:nvPr/>
        </p:nvSpPr>
        <p:spPr>
          <a:xfrm>
            <a:off x="9272016" y="3520440"/>
            <a:ext cx="2103120" cy="1508760"/>
          </a:xfrm>
          <a:prstGeom prst="rect">
            <a:avLst/>
          </a:prstGeom>
          <a:noFill/>
          <a:ln/>
        </p:spPr>
        <p:txBody>
          <a:bodyPr wrap="square" lIns="0" tIns="0" rIns="0" bIns="0" rtlCol="0" anchor="t"/>
          <a:lstStyle/>
          <a:p>
            <a:pPr indent="0" marL="0">
              <a:buNone/>
            </a:pPr>
            <a:r>
              <a:rPr lang="en-US" sz="1500" dirty="0">
                <a:solidFill>
                  <a:schemeClr val="bg2"/>
                </a:solidFill>
              </a:rPr>
              <a:t>a named reviewer, a reason for every change, an audit log with no note text</a:t>
            </a:r>
            <a:endParaRPr lang="en-US" sz="1500" dirty="0"/>
          </a:p>
        </p:txBody>
      </p:sp>
      <p:sp>
        <p:nvSpPr>
          <p:cNvPr id="23" name="Text 17"/>
          <p:cNvSpPr txBox="1"/>
          <p:nvPr/>
        </p:nvSpPr>
        <p:spPr>
          <a:xfrm>
            <a:off x="548640" y="5120640"/>
            <a:ext cx="11064240" cy="457200"/>
          </a:xfrm>
          <a:prstGeom prst="rect">
            <a:avLst/>
          </a:prstGeom>
          <a:noFill/>
          <a:ln/>
        </p:spPr>
        <p:txBody>
          <a:bodyPr wrap="square" lIns="0" tIns="0" rIns="0" bIns="0" rtlCol="0" anchor="t"/>
          <a:lstStyle/>
          <a:p>
            <a:pPr indent="0" marL="0">
              <a:buNone/>
            </a:pPr>
            <a:r>
              <a:rPr lang="en-US" sz="1400" dirty="0">
                <a:solidFill>
                  <a:schemeClr val="accent4"/>
                </a:solidFill>
              </a:rPr>
              <a:t>If the demo fails: the same flow is Figure 6 of the report. The tool runs on one laptop CPU, with no outside service.</a:t>
            </a:r>
            <a:endParaRPr lang="en-US" sz="1400" dirty="0"/>
          </a:p>
        </p:txBody>
      </p:sp>
      <p:sp>
        <p:nvSpPr>
          <p:cNvPr id="24"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bg2"/>
                </a:solidFill>
              </a:rPr>
              <a:t>Deevesh Rughoo</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 person decides, by design and by law</a:t>
            </a:r>
            <a:endParaRPr lang="en-US" sz="3400" dirty="0"/>
          </a:p>
        </p:txBody>
      </p:sp>
      <p:sp>
        <p:nvSpPr>
          <p:cNvPr id="3" name="principle"/>
          <p:cNvSpPr/>
          <p:nvPr/>
        </p:nvSpPr>
        <p:spPr>
          <a:xfrm>
            <a:off x="548640" y="1417320"/>
            <a:ext cx="3520440" cy="2057400"/>
          </a:xfrm>
          <a:prstGeom prst="roundRect">
            <a:avLst>
              <a:gd name="adj" fmla="val 5333"/>
            </a:avLst>
          </a:prstGeom>
          <a:solidFill>
            <a:schemeClr val="bg2"/>
          </a:solidFill>
          <a:ln w="12700">
            <a:solidFill>
              <a:schemeClr val="bg2"/>
            </a:solidFill>
            <a:prstDash val="solid"/>
          </a:ln>
        </p:spPr>
      </p:sp>
      <p:sp>
        <p:nvSpPr>
          <p:cNvPr id="4" name="icon-circle"/>
          <p:cNvSpPr/>
          <p:nvPr/>
        </p:nvSpPr>
        <p:spPr>
          <a:xfrm>
            <a:off x="777240" y="164592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77824" y="1746504"/>
            <a:ext cx="301752" cy="301752"/>
          </a:xfrm>
          <a:prstGeom prst="rect">
            <a:avLst/>
          </a:prstGeom>
        </p:spPr>
      </p:pic>
      <p:sp>
        <p:nvSpPr>
          <p:cNvPr id="6" name="Text 3"/>
          <p:cNvSpPr txBox="1"/>
          <p:nvPr/>
        </p:nvSpPr>
        <p:spPr>
          <a:xfrm>
            <a:off x="1417320" y="1645920"/>
            <a:ext cx="2514600" cy="548640"/>
          </a:xfrm>
          <a:prstGeom prst="rect">
            <a:avLst/>
          </a:prstGeom>
          <a:noFill/>
          <a:ln/>
        </p:spPr>
        <p:txBody>
          <a:bodyPr wrap="square" lIns="0" tIns="0" rIns="0" bIns="0" rtlCol="0" anchor="ctr"/>
          <a:lstStyle/>
          <a:p>
            <a:pPr indent="0" marL="0">
              <a:buNone/>
            </a:pPr>
            <a:r>
              <a:rPr lang="en-US" sz="1700" b="1" dirty="0">
                <a:solidFill>
                  <a:schemeClr val="tx2"/>
                </a:solidFill>
              </a:rPr>
              <a:t>A person decides every note</a:t>
            </a:r>
            <a:endParaRPr lang="en-US" sz="1700" dirty="0"/>
          </a:p>
        </p:txBody>
      </p:sp>
      <p:sp>
        <p:nvSpPr>
          <p:cNvPr id="7" name="Text 4"/>
          <p:cNvSpPr txBox="1"/>
          <p:nvPr/>
        </p:nvSpPr>
        <p:spPr>
          <a:xfrm>
            <a:off x="777240" y="2313432"/>
            <a:ext cx="3108960" cy="1051560"/>
          </a:xfrm>
          <a:prstGeom prst="rect">
            <a:avLst/>
          </a:prstGeom>
          <a:noFill/>
          <a:ln/>
        </p:spPr>
        <p:txBody>
          <a:bodyPr wrap="square" lIns="0" tIns="0" rIns="0" bIns="0" rtlCol="0" anchor="t"/>
          <a:lstStyle/>
          <a:p>
            <a:pPr indent="0" marL="0">
              <a:buNone/>
            </a:pPr>
            <a:r>
              <a:rPr lang="en-US" sz="1400" dirty="0">
                <a:solidFill>
                  <a:schemeClr val="tx1"/>
                </a:solidFill>
              </a:rPr>
              <a:t>GDPR Article 22; Mauritius DPA 2017 s.38(3) bars automated evaluation on health data</a:t>
            </a:r>
            <a:endParaRPr lang="en-US" sz="1400" dirty="0"/>
          </a:p>
        </p:txBody>
      </p:sp>
      <p:sp>
        <p:nvSpPr>
          <p:cNvPr id="8" name="principle"/>
          <p:cNvSpPr/>
          <p:nvPr/>
        </p:nvSpPr>
        <p:spPr>
          <a:xfrm>
            <a:off x="4297680" y="1417320"/>
            <a:ext cx="3520440" cy="2057400"/>
          </a:xfrm>
          <a:prstGeom prst="roundRect">
            <a:avLst>
              <a:gd name="adj" fmla="val 5333"/>
            </a:avLst>
          </a:prstGeom>
          <a:solidFill>
            <a:schemeClr val="bg2"/>
          </a:solidFill>
          <a:ln w="12700">
            <a:solidFill>
              <a:schemeClr val="bg2"/>
            </a:solidFill>
            <a:prstDash val="solid"/>
          </a:ln>
        </p:spPr>
      </p:sp>
      <p:sp>
        <p:nvSpPr>
          <p:cNvPr id="9" name="icon-circle"/>
          <p:cNvSpPr/>
          <p:nvPr/>
        </p:nvSpPr>
        <p:spPr>
          <a:xfrm>
            <a:off x="4526280" y="1645920"/>
            <a:ext cx="502920" cy="50292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4626864" y="1746504"/>
            <a:ext cx="301752" cy="301752"/>
          </a:xfrm>
          <a:prstGeom prst="rect">
            <a:avLst/>
          </a:prstGeom>
        </p:spPr>
      </p:pic>
      <p:sp>
        <p:nvSpPr>
          <p:cNvPr id="11" name="Text 7"/>
          <p:cNvSpPr txBox="1"/>
          <p:nvPr/>
        </p:nvSpPr>
        <p:spPr>
          <a:xfrm>
            <a:off x="5166360" y="1645920"/>
            <a:ext cx="2514600" cy="548640"/>
          </a:xfrm>
          <a:prstGeom prst="rect">
            <a:avLst/>
          </a:prstGeom>
          <a:noFill/>
          <a:ln/>
        </p:spPr>
        <p:txBody>
          <a:bodyPr wrap="square" lIns="0" tIns="0" rIns="0" bIns="0" rtlCol="0" anchor="ctr"/>
          <a:lstStyle/>
          <a:p>
            <a:pPr indent="0" marL="0">
              <a:buNone/>
            </a:pPr>
            <a:r>
              <a:rPr lang="en-US" sz="1700" b="1" dirty="0">
                <a:solidFill>
                  <a:schemeClr val="tx2"/>
                </a:solidFill>
              </a:rPr>
              <a:t>Identifiers removed first</a:t>
            </a:r>
            <a:endParaRPr lang="en-US" sz="1700" dirty="0"/>
          </a:p>
        </p:txBody>
      </p:sp>
      <p:sp>
        <p:nvSpPr>
          <p:cNvPr id="12" name="Text 8"/>
          <p:cNvSpPr txBox="1"/>
          <p:nvPr/>
        </p:nvSpPr>
        <p:spPr>
          <a:xfrm>
            <a:off x="4526280" y="2313432"/>
            <a:ext cx="3108960" cy="1051560"/>
          </a:xfrm>
          <a:prstGeom prst="rect">
            <a:avLst/>
          </a:prstGeom>
          <a:noFill/>
          <a:ln/>
        </p:spPr>
        <p:txBody>
          <a:bodyPr wrap="square" lIns="0" tIns="0" rIns="0" bIns="0" rtlCol="0" anchor="t"/>
          <a:lstStyle/>
          <a:p>
            <a:pPr indent="0" marL="0">
              <a:buNone/>
            </a:pPr>
            <a:r>
              <a:rPr lang="en-US" sz="1400" dirty="0">
                <a:solidFill>
                  <a:schemeClr val="tx1"/>
                </a:solidFill>
              </a:rPr>
              <a:t>names, dates, phones, record numbers; macro F1 0.924 → 0.925</a:t>
            </a:r>
            <a:endParaRPr lang="en-US" sz="1400" dirty="0"/>
          </a:p>
        </p:txBody>
      </p:sp>
      <p:sp>
        <p:nvSpPr>
          <p:cNvPr id="13" name="principle"/>
          <p:cNvSpPr/>
          <p:nvPr/>
        </p:nvSpPr>
        <p:spPr>
          <a:xfrm>
            <a:off x="8046720" y="1417320"/>
            <a:ext cx="3520440" cy="2057400"/>
          </a:xfrm>
          <a:prstGeom prst="roundRect">
            <a:avLst>
              <a:gd name="adj" fmla="val 5333"/>
            </a:avLst>
          </a:prstGeom>
          <a:solidFill>
            <a:schemeClr val="bg2"/>
          </a:solidFill>
          <a:ln w="12700">
            <a:solidFill>
              <a:schemeClr val="bg2"/>
            </a:solidFill>
            <a:prstDash val="solid"/>
          </a:ln>
        </p:spPr>
      </p:sp>
      <p:sp>
        <p:nvSpPr>
          <p:cNvPr id="14" name="icon-circle"/>
          <p:cNvSpPr/>
          <p:nvPr/>
        </p:nvSpPr>
        <p:spPr>
          <a:xfrm>
            <a:off x="8275320" y="1645920"/>
            <a:ext cx="502920" cy="50292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8375904" y="1746504"/>
            <a:ext cx="301752" cy="301752"/>
          </a:xfrm>
          <a:prstGeom prst="rect">
            <a:avLst/>
          </a:prstGeom>
        </p:spPr>
      </p:pic>
      <p:sp>
        <p:nvSpPr>
          <p:cNvPr id="16" name="Text 11"/>
          <p:cNvSpPr txBox="1"/>
          <p:nvPr/>
        </p:nvSpPr>
        <p:spPr>
          <a:xfrm>
            <a:off x="8915400" y="1645920"/>
            <a:ext cx="2514600" cy="548640"/>
          </a:xfrm>
          <a:prstGeom prst="rect">
            <a:avLst/>
          </a:prstGeom>
          <a:noFill/>
          <a:ln/>
        </p:spPr>
        <p:txBody>
          <a:bodyPr wrap="square" lIns="0" tIns="0" rIns="0" bIns="0" rtlCol="0" anchor="ctr"/>
          <a:lstStyle/>
          <a:p>
            <a:pPr indent="0" marL="0">
              <a:buNone/>
            </a:pPr>
            <a:r>
              <a:rPr lang="en-US" sz="1700" b="1" dirty="0">
                <a:solidFill>
                  <a:schemeClr val="tx2"/>
                </a:solidFill>
              </a:rPr>
              <a:t>Audit log without note text</a:t>
            </a:r>
            <a:endParaRPr lang="en-US" sz="1700" dirty="0"/>
          </a:p>
        </p:txBody>
      </p:sp>
      <p:sp>
        <p:nvSpPr>
          <p:cNvPr id="17" name="Text 12"/>
          <p:cNvSpPr txBox="1"/>
          <p:nvPr/>
        </p:nvSpPr>
        <p:spPr>
          <a:xfrm>
            <a:off x="8275320" y="2313432"/>
            <a:ext cx="3108960" cy="1051560"/>
          </a:xfrm>
          <a:prstGeom prst="rect">
            <a:avLst/>
          </a:prstGeom>
          <a:noFill/>
          <a:ln/>
        </p:spPr>
        <p:txBody>
          <a:bodyPr wrap="square" lIns="0" tIns="0" rIns="0" bIns="0" rtlCol="0" anchor="t"/>
          <a:lstStyle/>
          <a:p>
            <a:pPr indent="0" marL="0">
              <a:buNone/>
            </a:pPr>
            <a:r>
              <a:rPr lang="en-US" sz="1400" dirty="0">
                <a:solidFill>
                  <a:schemeClr val="tx1"/>
                </a:solidFill>
              </a:rPr>
              <a:t>pseudonymous ID, 30-day retention, access and erasure</a:t>
            </a:r>
            <a:endParaRPr lang="en-US" sz="1400" dirty="0"/>
          </a:p>
        </p:txBody>
      </p:sp>
      <p:sp>
        <p:nvSpPr>
          <p:cNvPr id="18" name="principle"/>
          <p:cNvSpPr/>
          <p:nvPr/>
        </p:nvSpPr>
        <p:spPr>
          <a:xfrm>
            <a:off x="548640" y="3703320"/>
            <a:ext cx="3520440" cy="2057400"/>
          </a:xfrm>
          <a:prstGeom prst="roundRect">
            <a:avLst>
              <a:gd name="adj" fmla="val 5333"/>
            </a:avLst>
          </a:prstGeom>
          <a:solidFill>
            <a:schemeClr val="bg2"/>
          </a:solidFill>
          <a:ln w="12700">
            <a:solidFill>
              <a:schemeClr val="bg2"/>
            </a:solidFill>
            <a:prstDash val="solid"/>
          </a:ln>
        </p:spPr>
      </p:sp>
      <p:sp>
        <p:nvSpPr>
          <p:cNvPr id="19" name="icon-circle"/>
          <p:cNvSpPr/>
          <p:nvPr/>
        </p:nvSpPr>
        <p:spPr>
          <a:xfrm>
            <a:off x="777240" y="3931920"/>
            <a:ext cx="502920" cy="50292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877824" y="4032504"/>
            <a:ext cx="301752" cy="301752"/>
          </a:xfrm>
          <a:prstGeom prst="rect">
            <a:avLst/>
          </a:prstGeom>
        </p:spPr>
      </p:pic>
      <p:sp>
        <p:nvSpPr>
          <p:cNvPr id="21" name="Text 15"/>
          <p:cNvSpPr txBox="1"/>
          <p:nvPr/>
        </p:nvSpPr>
        <p:spPr>
          <a:xfrm>
            <a:off x="1417320" y="3931920"/>
            <a:ext cx="2514600" cy="548640"/>
          </a:xfrm>
          <a:prstGeom prst="rect">
            <a:avLst/>
          </a:prstGeom>
          <a:noFill/>
          <a:ln/>
        </p:spPr>
        <p:txBody>
          <a:bodyPr wrap="square" lIns="0" tIns="0" rIns="0" bIns="0" rtlCol="0" anchor="ctr"/>
          <a:lstStyle/>
          <a:p>
            <a:pPr indent="0" marL="0">
              <a:buNone/>
            </a:pPr>
            <a:r>
              <a:rPr lang="en-US" sz="1700" b="1" dirty="0">
                <a:solidFill>
                  <a:schemeClr val="tx2"/>
                </a:solidFill>
              </a:rPr>
              <a:t>Fairness measured</a:t>
            </a:r>
            <a:endParaRPr lang="en-US" sz="1700" dirty="0"/>
          </a:p>
        </p:txBody>
      </p:sp>
      <p:sp>
        <p:nvSpPr>
          <p:cNvPr id="22" name="Text 16"/>
          <p:cNvSpPr txBox="1"/>
          <p:nvPr/>
        </p:nvSpPr>
        <p:spPr>
          <a:xfrm>
            <a:off x="777240" y="4599432"/>
            <a:ext cx="3108960" cy="1051560"/>
          </a:xfrm>
          <a:prstGeom prst="rect">
            <a:avLst/>
          </a:prstGeom>
          <a:noFill/>
          <a:ln/>
        </p:spPr>
        <p:txBody>
          <a:bodyPr wrap="square" lIns="0" tIns="0" rIns="0" bIns="0" rtlCol="0" anchor="t"/>
          <a:lstStyle/>
          <a:p>
            <a:pPr indent="0" marL="0">
              <a:buNone/>
            </a:pPr>
            <a:r>
              <a:rPr lang="en-US" sz="1400" dirty="0">
                <a:solidFill>
                  <a:schemeClr val="tx1"/>
                </a:solidFill>
              </a:rPr>
              <a:t>men 0.908, women 0.925 (Model 2); no gap beyond the uncertainty of about 100 notes per sex</a:t>
            </a:r>
            <a:endParaRPr lang="en-US" sz="1400" dirty="0"/>
          </a:p>
        </p:txBody>
      </p:sp>
      <p:sp>
        <p:nvSpPr>
          <p:cNvPr id="23" name="principle"/>
          <p:cNvSpPr/>
          <p:nvPr/>
        </p:nvSpPr>
        <p:spPr>
          <a:xfrm>
            <a:off x="4297680" y="3703320"/>
            <a:ext cx="3520440" cy="2057400"/>
          </a:xfrm>
          <a:prstGeom prst="roundRect">
            <a:avLst>
              <a:gd name="adj" fmla="val 5333"/>
            </a:avLst>
          </a:prstGeom>
          <a:solidFill>
            <a:schemeClr val="bg2"/>
          </a:solidFill>
          <a:ln w="12700">
            <a:solidFill>
              <a:schemeClr val="bg2"/>
            </a:solidFill>
            <a:prstDash val="solid"/>
          </a:ln>
        </p:spPr>
      </p:sp>
      <p:sp>
        <p:nvSpPr>
          <p:cNvPr id="24" name="icon-circle"/>
          <p:cNvSpPr/>
          <p:nvPr/>
        </p:nvSpPr>
        <p:spPr>
          <a:xfrm>
            <a:off x="4526280" y="3931920"/>
            <a:ext cx="502920" cy="502920"/>
          </a:xfrm>
          <a:prstGeom prst="ellipse">
            <a:avLst/>
          </a:prstGeom>
          <a:solidFill>
            <a:schemeClr val="accent1"/>
          </a:solidFill>
          <a:ln w="12700">
            <a:solidFill>
              <a:schemeClr val="accent1"/>
            </a:solidFill>
            <a:prstDash val="solid"/>
          </a:ln>
        </p:spPr>
      </p:sp>
      <p:pic>
        <p:nvPicPr>
          <p:cNvPr id="25" name="icon" descr="preencoded.png">    </p:cNvPr>
          <p:cNvPicPr>
            <a:picLocks noChangeAspect="1"/>
          </p:cNvPicPr>
          <p:nvPr/>
        </p:nvPicPr>
        <p:blipFill>
          <a:blip r:embed="rId5"/>
          <a:stretch>
            <a:fillRect/>
          </a:stretch>
        </p:blipFill>
        <p:spPr>
          <a:xfrm>
            <a:off x="4626864" y="4032504"/>
            <a:ext cx="301752" cy="301752"/>
          </a:xfrm>
          <a:prstGeom prst="rect">
            <a:avLst/>
          </a:prstGeom>
        </p:spPr>
      </p:pic>
      <p:sp>
        <p:nvSpPr>
          <p:cNvPr id="26" name="Text 19"/>
          <p:cNvSpPr txBox="1"/>
          <p:nvPr/>
        </p:nvSpPr>
        <p:spPr>
          <a:xfrm>
            <a:off x="5166360" y="3931920"/>
            <a:ext cx="2514600" cy="548640"/>
          </a:xfrm>
          <a:prstGeom prst="rect">
            <a:avLst/>
          </a:prstGeom>
          <a:noFill/>
          <a:ln/>
        </p:spPr>
        <p:txBody>
          <a:bodyPr wrap="square" lIns="0" tIns="0" rIns="0" bIns="0" rtlCol="0" anchor="ctr"/>
          <a:lstStyle/>
          <a:p>
            <a:pPr indent="0" marL="0">
              <a:buNone/>
            </a:pPr>
            <a:r>
              <a:rPr lang="en-US" sz="1700" b="1" dirty="0">
                <a:solidFill>
                  <a:schemeClr val="tx2"/>
                </a:solidFill>
              </a:rPr>
              <a:t>EU AI Act: minimal risk</a:t>
            </a:r>
            <a:endParaRPr lang="en-US" sz="1700" dirty="0"/>
          </a:p>
        </p:txBody>
      </p:sp>
      <p:sp>
        <p:nvSpPr>
          <p:cNvPr id="27" name="Text 20"/>
          <p:cNvSpPr txBox="1"/>
          <p:nvPr/>
        </p:nvSpPr>
        <p:spPr>
          <a:xfrm>
            <a:off x="4526280" y="4599432"/>
            <a:ext cx="3108960" cy="1051560"/>
          </a:xfrm>
          <a:prstGeom prst="rect">
            <a:avLst/>
          </a:prstGeom>
          <a:noFill/>
          <a:ln/>
        </p:spPr>
        <p:txBody>
          <a:bodyPr wrap="square" lIns="0" tIns="0" rIns="0" bIns="0" rtlCol="0" anchor="t"/>
          <a:lstStyle/>
          <a:p>
            <a:pPr indent="0" marL="0">
              <a:buNone/>
            </a:pPr>
            <a:r>
              <a:rPr lang="en-US" sz="1400" dirty="0">
                <a:solidFill>
                  <a:schemeClr val="tx1"/>
                </a:solidFill>
              </a:rPr>
              <a:t>high-risk if used for emergency triage (Annex III 5(d)); built to those duties anyway</a:t>
            </a:r>
            <a:endParaRPr lang="en-US" sz="1400" dirty="0"/>
          </a:p>
        </p:txBody>
      </p:sp>
      <p:sp>
        <p:nvSpPr>
          <p:cNvPr id="28" name="principle"/>
          <p:cNvSpPr/>
          <p:nvPr/>
        </p:nvSpPr>
        <p:spPr>
          <a:xfrm>
            <a:off x="8046720" y="3703320"/>
            <a:ext cx="3520440" cy="2057400"/>
          </a:xfrm>
          <a:prstGeom prst="roundRect">
            <a:avLst>
              <a:gd name="adj" fmla="val 5333"/>
            </a:avLst>
          </a:prstGeom>
          <a:solidFill>
            <a:schemeClr val="bg2"/>
          </a:solidFill>
          <a:ln w="12700">
            <a:solidFill>
              <a:schemeClr val="bg2"/>
            </a:solidFill>
            <a:prstDash val="solid"/>
          </a:ln>
        </p:spPr>
      </p:sp>
      <p:sp>
        <p:nvSpPr>
          <p:cNvPr id="29" name="icon-circle"/>
          <p:cNvSpPr/>
          <p:nvPr/>
        </p:nvSpPr>
        <p:spPr>
          <a:xfrm>
            <a:off x="8275320" y="3931920"/>
            <a:ext cx="502920" cy="502920"/>
          </a:xfrm>
          <a:prstGeom prst="ellipse">
            <a:avLst/>
          </a:prstGeom>
          <a:solidFill>
            <a:schemeClr val="accent3"/>
          </a:solidFill>
          <a:ln w="12700">
            <a:solidFill>
              <a:schemeClr val="accent3"/>
            </a:solidFill>
            <a:prstDash val="solid"/>
          </a:ln>
        </p:spPr>
      </p:sp>
      <p:pic>
        <p:nvPicPr>
          <p:cNvPr id="30" name="icon" descr="preencoded.png">    </p:cNvPr>
          <p:cNvPicPr>
            <a:picLocks noChangeAspect="1"/>
          </p:cNvPicPr>
          <p:nvPr/>
        </p:nvPicPr>
        <p:blipFill>
          <a:blip r:embed="rId6"/>
          <a:stretch>
            <a:fillRect/>
          </a:stretch>
        </p:blipFill>
        <p:spPr>
          <a:xfrm>
            <a:off x="8375904" y="4032504"/>
            <a:ext cx="301752" cy="301752"/>
          </a:xfrm>
          <a:prstGeom prst="rect">
            <a:avLst/>
          </a:prstGeom>
        </p:spPr>
      </p:pic>
      <p:sp>
        <p:nvSpPr>
          <p:cNvPr id="31" name="Text 23"/>
          <p:cNvSpPr txBox="1"/>
          <p:nvPr/>
        </p:nvSpPr>
        <p:spPr>
          <a:xfrm>
            <a:off x="8915400" y="3931920"/>
            <a:ext cx="2514600" cy="548640"/>
          </a:xfrm>
          <a:prstGeom prst="rect">
            <a:avLst/>
          </a:prstGeom>
          <a:noFill/>
          <a:ln/>
        </p:spPr>
        <p:txBody>
          <a:bodyPr wrap="square" lIns="0" tIns="0" rIns="0" bIns="0" rtlCol="0" anchor="ctr"/>
          <a:lstStyle/>
          <a:p>
            <a:pPr indent="0" marL="0">
              <a:buNone/>
            </a:pPr>
            <a:r>
              <a:rPr lang="en-US" sz="1700" b="1" dirty="0">
                <a:solidFill>
                  <a:schemeClr val="tx2"/>
                </a:solidFill>
              </a:rPr>
              <a:t>What we refuse</a:t>
            </a:r>
            <a:endParaRPr lang="en-US" sz="1700" dirty="0"/>
          </a:p>
        </p:txBody>
      </p:sp>
      <p:sp>
        <p:nvSpPr>
          <p:cNvPr id="32" name="Text 24"/>
          <p:cNvSpPr txBox="1"/>
          <p:nvPr/>
        </p:nvSpPr>
        <p:spPr>
          <a:xfrm>
            <a:off x="8275320" y="4599432"/>
            <a:ext cx="3108960" cy="1051560"/>
          </a:xfrm>
          <a:prstGeom prst="rect">
            <a:avLst/>
          </a:prstGeom>
          <a:noFill/>
          <a:ln/>
        </p:spPr>
        <p:txBody>
          <a:bodyPr wrap="square" lIns="0" tIns="0" rIns="0" bIns="0" rtlCol="0" anchor="t"/>
          <a:lstStyle/>
          <a:p>
            <a:pPr indent="0" marL="0">
              <a:buNone/>
            </a:pPr>
            <a:r>
              <a:rPr lang="en-US" sz="1400" dirty="0">
                <a:solidFill>
                  <a:schemeClr val="tx1"/>
                </a:solidFill>
              </a:rPr>
              <a:t>automatic routing with no person, even for fast-track notes</a:t>
            </a:r>
            <a:endParaRPr lang="en-US" sz="1400" dirty="0"/>
          </a:p>
        </p:txBody>
      </p:sp>
      <p:sp>
        <p:nvSpPr>
          <p:cNvPr id="33"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accent5"/>
                </a:solidFill>
              </a:rPr>
              <a:t>Immanuel James Wong Hon Leung</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Back a one-month shadow pilot</a:t>
            </a:r>
            <a:endParaRPr lang="en-US" sz="3400" dirty="0"/>
          </a:p>
        </p:txBody>
      </p:sp>
      <p:sp>
        <p:nvSpPr>
          <p:cNvPr id="3" name="step-number"/>
          <p:cNvSpPr/>
          <p:nvPr/>
        </p:nvSpPr>
        <p:spPr>
          <a:xfrm>
            <a:off x="548640" y="1600200"/>
            <a:ext cx="685800" cy="685800"/>
          </a:xfrm>
          <a:prstGeom prst="ellipse">
            <a:avLst/>
          </a:prstGeom>
          <a:solidFill>
            <a:schemeClr val="accent2"/>
          </a:solidFill>
          <a:ln w="12700">
            <a:solidFill>
              <a:schemeClr val="accent2"/>
            </a:solidFill>
            <a:prstDash val="solid"/>
          </a:ln>
        </p:spPr>
      </p:sp>
      <p:sp>
        <p:nvSpPr>
          <p:cNvPr id="4" name="Text 2"/>
          <p:cNvSpPr txBox="1"/>
          <p:nvPr/>
        </p:nvSpPr>
        <p:spPr>
          <a:xfrm>
            <a:off x="548640" y="160020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5" name="Text 3"/>
          <p:cNvSpPr txBox="1"/>
          <p:nvPr/>
        </p:nvSpPr>
        <p:spPr>
          <a:xfrm>
            <a:off x="1417320" y="1645920"/>
            <a:ext cx="2651760" cy="548640"/>
          </a:xfrm>
          <a:prstGeom prst="rect">
            <a:avLst/>
          </a:prstGeom>
          <a:noFill/>
          <a:ln/>
        </p:spPr>
        <p:txBody>
          <a:bodyPr wrap="square" lIns="0" tIns="0" rIns="0" bIns="0" rtlCol="0" anchor="ctr"/>
          <a:lstStyle/>
          <a:p>
            <a:pPr indent="0" marL="0">
              <a:buNone/>
            </a:pPr>
            <a:r>
              <a:rPr lang="en-US" sz="2200" b="1" dirty="0">
                <a:solidFill>
                  <a:schemeClr val="bg1"/>
                </a:solidFill>
              </a:rPr>
              <a:t>Shadow month</a:t>
            </a:r>
            <a:endParaRPr lang="en-US" sz="2200" dirty="0"/>
          </a:p>
        </p:txBody>
      </p:sp>
      <p:sp>
        <p:nvSpPr>
          <p:cNvPr id="6" name="Text 4"/>
          <p:cNvSpPr txBox="1"/>
          <p:nvPr/>
        </p:nvSpPr>
        <p:spPr>
          <a:xfrm>
            <a:off x="548640" y="2514600"/>
            <a:ext cx="3383280" cy="1188720"/>
          </a:xfrm>
          <a:prstGeom prst="rect">
            <a:avLst/>
          </a:prstGeom>
          <a:noFill/>
          <a:ln/>
        </p:spPr>
        <p:txBody>
          <a:bodyPr wrap="square" lIns="0" tIns="0" rIns="0" bIns="0" rtlCol="0" anchor="t"/>
          <a:lstStyle/>
          <a:p>
            <a:pPr indent="0" marL="0">
              <a:buNone/>
            </a:pPr>
            <a:r>
              <a:rPr lang="en-US" sz="1600" dirty="0">
                <a:solidFill>
                  <a:schemeClr val="bg2"/>
                </a:solidFill>
              </a:rPr>
              <a:t>In one department, the tool suggests and staff route as today. We compare.</a:t>
            </a:r>
            <a:endParaRPr lang="en-US" sz="1600" dirty="0"/>
          </a:p>
        </p:txBody>
      </p:sp>
      <p:sp>
        <p:nvSpPr>
          <p:cNvPr id="7" name="step-number"/>
          <p:cNvSpPr/>
          <p:nvPr/>
        </p:nvSpPr>
        <p:spPr>
          <a:xfrm>
            <a:off x="4297680" y="1600200"/>
            <a:ext cx="685800" cy="685800"/>
          </a:xfrm>
          <a:prstGeom prst="ellipse">
            <a:avLst/>
          </a:prstGeom>
          <a:solidFill>
            <a:schemeClr val="accent2"/>
          </a:solidFill>
          <a:ln w="12700">
            <a:solidFill>
              <a:schemeClr val="accent2"/>
            </a:solidFill>
            <a:prstDash val="solid"/>
          </a:ln>
        </p:spPr>
      </p:sp>
      <p:sp>
        <p:nvSpPr>
          <p:cNvPr id="8" name="Text 6"/>
          <p:cNvSpPr txBox="1"/>
          <p:nvPr/>
        </p:nvSpPr>
        <p:spPr>
          <a:xfrm>
            <a:off x="4297680" y="160020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5166360" y="1645920"/>
            <a:ext cx="2651760" cy="548640"/>
          </a:xfrm>
          <a:prstGeom prst="rect">
            <a:avLst/>
          </a:prstGeom>
          <a:noFill/>
          <a:ln/>
        </p:spPr>
        <p:txBody>
          <a:bodyPr wrap="square" lIns="0" tIns="0" rIns="0" bIns="0" rtlCol="0" anchor="ctr"/>
          <a:lstStyle/>
          <a:p>
            <a:pPr indent="0" marL="0">
              <a:buNone/>
            </a:pPr>
            <a:r>
              <a:rPr lang="en-US" sz="2200" b="1" dirty="0">
                <a:solidFill>
                  <a:schemeClr val="bg1"/>
                </a:solidFill>
              </a:rPr>
              <a:t>Retrain locally</a:t>
            </a:r>
            <a:endParaRPr lang="en-US" sz="2200" dirty="0"/>
          </a:p>
        </p:txBody>
      </p:sp>
      <p:sp>
        <p:nvSpPr>
          <p:cNvPr id="10" name="Text 8"/>
          <p:cNvSpPr txBox="1"/>
          <p:nvPr/>
        </p:nvSpPr>
        <p:spPr>
          <a:xfrm>
            <a:off x="4297680" y="2514600"/>
            <a:ext cx="3383280" cy="1188720"/>
          </a:xfrm>
          <a:prstGeom prst="rect">
            <a:avLst/>
          </a:prstGeom>
          <a:noFill/>
          <a:ln/>
        </p:spPr>
        <p:txBody>
          <a:bodyPr wrap="square" lIns="0" tIns="0" rIns="0" bIns="0" rtlCol="0" anchor="t"/>
          <a:lstStyle/>
          <a:p>
            <a:pPr indent="0" marL="0">
              <a:buNone/>
            </a:pPr>
            <a:r>
              <a:rPr lang="en-US" sz="1600" dirty="0">
                <a:solidFill>
                  <a:schemeClr val="bg2"/>
                </a:solidFill>
              </a:rPr>
              <a:t>On the hospital's own notes: new thresholds, and an "other department" class.</a:t>
            </a:r>
            <a:endParaRPr lang="en-US" sz="1600" dirty="0"/>
          </a:p>
        </p:txBody>
      </p:sp>
      <p:sp>
        <p:nvSpPr>
          <p:cNvPr id="11" name="step-number"/>
          <p:cNvSpPr/>
          <p:nvPr/>
        </p:nvSpPr>
        <p:spPr>
          <a:xfrm>
            <a:off x="8046720" y="1600200"/>
            <a:ext cx="685800" cy="685800"/>
          </a:xfrm>
          <a:prstGeom prst="ellipse">
            <a:avLst/>
          </a:prstGeom>
          <a:solidFill>
            <a:schemeClr val="accent2"/>
          </a:solidFill>
          <a:ln w="12700">
            <a:solidFill>
              <a:schemeClr val="accent2"/>
            </a:solidFill>
            <a:prstDash val="solid"/>
          </a:ln>
        </p:spPr>
      </p:sp>
      <p:sp>
        <p:nvSpPr>
          <p:cNvPr id="12" name="Text 10"/>
          <p:cNvSpPr txBox="1"/>
          <p:nvPr/>
        </p:nvSpPr>
        <p:spPr>
          <a:xfrm>
            <a:off x="8046720" y="1600200"/>
            <a:ext cx="685800" cy="685800"/>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3" name="Text 11"/>
          <p:cNvSpPr txBox="1"/>
          <p:nvPr/>
        </p:nvSpPr>
        <p:spPr>
          <a:xfrm>
            <a:off x="8915400" y="1645920"/>
            <a:ext cx="2651760" cy="548640"/>
          </a:xfrm>
          <a:prstGeom prst="rect">
            <a:avLst/>
          </a:prstGeom>
          <a:noFill/>
          <a:ln/>
        </p:spPr>
        <p:txBody>
          <a:bodyPr wrap="square" lIns="0" tIns="0" rIns="0" bIns="0" rtlCol="0" anchor="ctr"/>
          <a:lstStyle/>
          <a:p>
            <a:pPr indent="0" marL="0">
              <a:buNone/>
            </a:pPr>
            <a:r>
              <a:rPr lang="en-US" sz="2200" b="1" dirty="0">
                <a:solidFill>
                  <a:schemeClr val="bg1"/>
                </a:solidFill>
              </a:rPr>
              <a:t>Go live, safely</a:t>
            </a:r>
            <a:endParaRPr lang="en-US" sz="2200" dirty="0"/>
          </a:p>
        </p:txBody>
      </p:sp>
      <p:sp>
        <p:nvSpPr>
          <p:cNvPr id="14" name="Text 12"/>
          <p:cNvSpPr txBox="1"/>
          <p:nvPr/>
        </p:nvSpPr>
        <p:spPr>
          <a:xfrm>
            <a:off x="8046720" y="2514600"/>
            <a:ext cx="3383280" cy="1188720"/>
          </a:xfrm>
          <a:prstGeom prst="rect">
            <a:avLst/>
          </a:prstGeom>
          <a:noFill/>
          <a:ln/>
        </p:spPr>
        <p:txBody>
          <a:bodyPr wrap="square" lIns="0" tIns="0" rIns="0" bIns="0" rtlCol="0" anchor="t"/>
          <a:lstStyle/>
          <a:p>
            <a:pPr indent="0" marL="0">
              <a:buNone/>
            </a:pPr>
            <a:r>
              <a:rPr lang="en-US" sz="1600" dirty="0">
                <a:solidFill>
                  <a:schemeClr val="bg2"/>
                </a:solidFill>
              </a:rPr>
              <a:t>Two keys, and a person confirming every note. Never automatic.</a:t>
            </a:r>
            <a:endParaRPr lang="en-US" sz="1600" dirty="0"/>
          </a:p>
        </p:txBody>
      </p:sp>
      <p:sp>
        <p:nvSpPr>
          <p:cNvPr id="15" name="cost"/>
          <p:cNvSpPr/>
          <p:nvPr/>
        </p:nvSpPr>
        <p:spPr>
          <a:xfrm>
            <a:off x="548640" y="3977640"/>
            <a:ext cx="5394960" cy="1234440"/>
          </a:xfrm>
          <a:prstGeom prst="roundRect">
            <a:avLst>
              <a:gd name="adj" fmla="val 8889"/>
            </a:avLst>
          </a:prstGeom>
          <a:solidFill>
            <a:schemeClr val="bg1">
              <a:alpha val="12000"/>
            </a:schemeClr>
          </a:solidFill>
          <a:ln w="12700">
            <a:solidFill>
              <a:schemeClr val="accent4"/>
            </a:solidFill>
            <a:prstDash val="solid"/>
          </a:ln>
        </p:spPr>
      </p:sp>
      <p:sp>
        <p:nvSpPr>
          <p:cNvPr id="16" name="Text 14"/>
          <p:cNvSpPr txBox="1"/>
          <p:nvPr/>
        </p:nvSpPr>
        <p:spPr>
          <a:xfrm>
            <a:off x="777240" y="4114800"/>
            <a:ext cx="4937760" cy="1005840"/>
          </a:xfrm>
          <a:prstGeom prst="rect">
            <a:avLst/>
          </a:prstGeom>
          <a:noFill/>
          <a:ln/>
        </p:spPr>
        <p:txBody>
          <a:bodyPr wrap="square" lIns="0" tIns="0" rIns="0" bIns="0" rtlCol="0" anchor="t"/>
          <a:lstStyle/>
          <a:p>
            <a:pPr indent="0" marL="0">
              <a:buNone/>
            </a:pPr>
            <a:r>
              <a:rPr lang="en-US" sz="1800" b="1" dirty="0">
                <a:solidFill>
                  <a:schemeClr val="bg1"/>
                </a:solidFill>
              </a:rPr>
              <a:t>Cheap to run</a:t>
            </a:r>
            <a:endParaRPr lang="en-US" sz="1500" dirty="0"/>
          </a:p>
          <a:p>
            <a:pPr indent="0" marL="0">
              <a:buNone/>
            </a:pPr>
            <a:r>
              <a:rPr lang="en-US" sz="1500" dirty="0">
                <a:solidFill>
                  <a:schemeClr val="bg2"/>
                </a:solidFill>
              </a:rPr>
              <a:t>One CPU routes about 10,500 notes an hour. Retraining everything takes 45 minutes on a laptop GPU.</a:t>
            </a:r>
            <a:endParaRPr lang="en-US" sz="1500" dirty="0"/>
          </a:p>
        </p:txBody>
      </p:sp>
      <p:sp>
        <p:nvSpPr>
          <p:cNvPr id="17" name="breaks"/>
          <p:cNvSpPr/>
          <p:nvPr/>
        </p:nvSpPr>
        <p:spPr>
          <a:xfrm>
            <a:off x="6217920" y="3977640"/>
            <a:ext cx="5394960" cy="1234440"/>
          </a:xfrm>
          <a:prstGeom prst="roundRect">
            <a:avLst>
              <a:gd name="adj" fmla="val 8889"/>
            </a:avLst>
          </a:prstGeom>
          <a:solidFill>
            <a:schemeClr val="bg1">
              <a:alpha val="12000"/>
            </a:schemeClr>
          </a:solidFill>
          <a:ln w="12700">
            <a:solidFill>
              <a:schemeClr val="accent4"/>
            </a:solidFill>
            <a:prstDash val="solid"/>
          </a:ln>
        </p:spPr>
      </p:sp>
      <p:sp>
        <p:nvSpPr>
          <p:cNvPr id="18" name="Text 16"/>
          <p:cNvSpPr txBox="1"/>
          <p:nvPr/>
        </p:nvSpPr>
        <p:spPr>
          <a:xfrm>
            <a:off x="6446520" y="4114800"/>
            <a:ext cx="4937760" cy="1005840"/>
          </a:xfrm>
          <a:prstGeom prst="rect">
            <a:avLst/>
          </a:prstGeom>
          <a:noFill/>
          <a:ln/>
        </p:spPr>
        <p:txBody>
          <a:bodyPr wrap="square" lIns="0" tIns="0" rIns="0" bIns="0" rtlCol="0" anchor="t"/>
          <a:lstStyle/>
          <a:p>
            <a:pPr indent="0" marL="0">
              <a:buNone/>
            </a:pPr>
            <a:r>
              <a:rPr lang="en-US" sz="1800" b="1" dirty="0">
                <a:solidFill>
                  <a:schemeClr val="bg1"/>
                </a:solidFill>
              </a:rPr>
              <a:t>What breaks first</a:t>
            </a:r>
            <a:endParaRPr lang="en-US" sz="1500" dirty="0"/>
          </a:p>
          <a:p>
            <a:pPr indent="0" marL="0">
              <a:buNone/>
            </a:pPr>
            <a:r>
              <a:rPr lang="en-US" sz="1500" dirty="0">
                <a:solidFill>
                  <a:schemeClr val="bg2"/>
                </a:solidFill>
              </a:rPr>
              <a:t>Departments outside the nine, French and Kreol terms, and reviewer attention. The pilot measures all three.</a:t>
            </a:r>
            <a:endParaRPr lang="en-US" sz="1500" dirty="0"/>
          </a:p>
        </p:txBody>
      </p:sp>
      <p:sp>
        <p:nvSpPr>
          <p:cNvPr id="19" name="Text 17"/>
          <p:cNvSpPr txBox="1"/>
          <p:nvPr/>
        </p:nvSpPr>
        <p:spPr>
          <a:xfrm>
            <a:off x="548640" y="5532120"/>
            <a:ext cx="5486400" cy="411480"/>
          </a:xfrm>
          <a:prstGeom prst="rect">
            <a:avLst/>
          </a:prstGeom>
          <a:noFill/>
          <a:ln/>
        </p:spPr>
        <p:txBody>
          <a:bodyPr wrap="square" lIns="0" tIns="0" rIns="0" bIns="0" rtlCol="0" anchor="t"/>
          <a:lstStyle/>
          <a:p>
            <a:pPr indent="0" marL="0">
              <a:buNone/>
            </a:pPr>
            <a:r>
              <a:rPr lang="en-US" sz="2000" b="1" dirty="0">
                <a:solidFill>
                  <a:schemeClr val="accent2"/>
                </a:solidFill>
              </a:rPr>
              <a:t>Thank you. Questions?</a:t>
            </a:r>
            <a:endParaRPr lang="en-US" sz="2000" dirty="0"/>
          </a:p>
        </p:txBody>
      </p:sp>
      <p:sp>
        <p:nvSpPr>
          <p:cNvPr id="20" name="speaker"/>
          <p:cNvSpPr txBox="1"/>
          <p:nvPr/>
        </p:nvSpPr>
        <p:spPr>
          <a:xfrm>
            <a:off x="6583680" y="6400800"/>
            <a:ext cx="4572000" cy="274320"/>
          </a:xfrm>
          <a:prstGeom prst="rect">
            <a:avLst/>
          </a:prstGeom>
          <a:noFill/>
          <a:ln/>
        </p:spPr>
        <p:txBody>
          <a:bodyPr wrap="square" lIns="0" tIns="0" rIns="0" bIns="0" rtlCol="0" anchor="ctr"/>
          <a:lstStyle/>
          <a:p>
            <a:pPr algn="r" indent="0" marL="0">
              <a:buNone/>
            </a:pPr>
            <a:r>
              <a:rPr lang="en-US" sz="1000" dirty="0">
                <a:solidFill>
                  <a:schemeClr val="bg2"/>
                </a:solidFill>
              </a:rPr>
              <a:t>Immanuel James Wong Hon Leung</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linical Note Router">
  <a:themeElements>
    <a:clrScheme name="Clinical Note Router">
      <a:dk1>
        <a:srgbClr val="1B2A33"/>
      </a:dk1>
      <a:lt1>
        <a:srgbClr val="FFFFFF"/>
      </a:lt1>
      <a:dk2>
        <a:srgbClr val="0B3C49"/>
      </a:dk2>
      <a:lt2>
        <a:srgbClr val="EEF4F5"/>
      </a:lt2>
      <a:accent1>
        <a:srgbClr val="1F7A8C"/>
      </a:accent1>
      <a:accent2>
        <a:srgbClr val="E8A33D"/>
      </a:accent2>
      <a:accent3>
        <a:srgbClr val="C8553D"/>
      </a:accent3>
      <a:accent4>
        <a:srgbClr val="7A9E9F"/>
      </a:accent4>
      <a:accent5>
        <a:srgbClr val="9AA5AB"/>
      </a:accent5>
      <a:accent6>
        <a:srgbClr val="2E8B57"/>
      </a:accent6>
      <a:hlink>
        <a:srgbClr val="1F7A8C"/>
      </a:hlink>
      <a:folHlink>
        <a:srgbClr val="0B3C49"/>
      </a:folHlink>
    </a:clrScheme>
    <a:fontScheme name="Clinical Note Rou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Note Router</dc:title>
  <dc:subject>PptxGenJS Presentation</dc:subject>
  <dc:creator>Team Zero</dc:creator>
  <cp:lastModifiedBy>Team Zero</cp:lastModifiedBy>
  <cp:revision>1</cp:revision>
  <dcterms:created xsi:type="dcterms:W3CDTF">2026-10-24T06:34:41Z</dcterms:created>
  <dcterms:modified xsi:type="dcterms:W3CDTF">2026-10-24T06:34:41Z</dcterms:modified>
</cp:coreProperties>
</file>